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75" r:id="rId22"/>
    <p:sldId id="263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40" autoAdjust="0"/>
  </p:normalViewPr>
  <p:slideViewPr>
    <p:cSldViewPr snapToGrid="0" snapToObjects="1">
      <p:cViewPr varScale="1">
        <p:scale>
          <a:sx n="103" d="100"/>
          <a:sy n="103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20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Presento lo que se pidió: los diagramas de arquitectura 4+1, la justificación de la innovación y el avance de desarrollo, con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tablero es público y está vinculado al repositorio. Es el tablero real, no una tabla en un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Diagrama de secuencia (UML): la persona le pide empresas al asistente; el servidor revisa el presupuesto del mes; si hay, el modelo propone empresas y el servidor anota el gasto; la persona elige una y la base la guarda con las reglas del CRM, el aislamiento y la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Cada </a:t>
            </a:r>
            <a:r>
              <a:rPr dirty="0" err="1"/>
              <a:t>carpeta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frase</a:t>
            </a:r>
            <a:r>
              <a:rPr dirty="0"/>
              <a:t>. Abajo, las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automáticas</a:t>
            </a:r>
            <a:r>
              <a:rPr dirty="0"/>
              <a:t> con sus </a:t>
            </a:r>
            <a:r>
              <a:rPr dirty="0" err="1"/>
              <a:t>cifras</a:t>
            </a:r>
            <a:r>
              <a:rPr dirty="0"/>
              <a:t> de la </a:t>
            </a:r>
            <a:r>
              <a:rPr dirty="0" err="1"/>
              <a:t>última</a:t>
            </a:r>
            <a:r>
              <a:rPr dirty="0"/>
              <a:t> corrida.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Cinco </a:t>
            </a:r>
            <a:r>
              <a:rPr dirty="0" err="1"/>
              <a:t>escenarios</a:t>
            </a:r>
            <a:r>
              <a:rPr dirty="0"/>
              <a:t>, E1 a E5,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trazan</a:t>
            </a:r>
            <a:r>
              <a:rPr dirty="0"/>
              <a:t> contra las vistas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diapositiva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17320"/>
            <a:ext cx="3291840" cy="3291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544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A5B4FC"/>
                </a:solidFill>
                <a:latin typeface="Calibri"/>
              </a:rPr>
              <a:t>PROYECTO REVELA · CAPSTONE APT122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6949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Arquitectura 4+1, innovación y 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E0E7FF"/>
                </a:solidFill>
                <a:latin typeface="Calibri"/>
              </a:rPr>
              <a:t>Yair Hamir Costa Pérez · sección 003D · Duoc UC, Sede Antonio Varas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A5B4FC"/>
                </a:solidFill>
                <a:latin typeface="Calibri"/>
              </a:rPr>
              <a:t>Clase del 13-10-2026 · Docente: Rocío Contreras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AVANCE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1E1B4B"/>
                </a:solidFill>
                <a:latin typeface="Calibri"/>
              </a:rPr>
              <a:t>Qué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E1B4B"/>
                </a:solidFill>
                <a:latin typeface="Calibri"/>
              </a:rPr>
              <a:t>cambió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1E1B4B"/>
                </a:solidFill>
                <a:latin typeface="Calibri"/>
              </a:rPr>
              <a:t>desde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 la </a:t>
            </a:r>
            <a:r>
              <a:rPr sz="3000" b="1" i="0" dirty="0" err="1">
                <a:solidFill>
                  <a:srgbClr val="1E1B4B"/>
                </a:solidFill>
                <a:latin typeface="Calibri"/>
              </a:rPr>
              <a:t>entrega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 del 0</a:t>
            </a:r>
            <a:r>
              <a:rPr lang="es-ES" sz="3000" b="1" i="0" dirty="0">
                <a:solidFill>
                  <a:srgbClr val="1E1B4B"/>
                </a:solidFill>
                <a:latin typeface="Calibri"/>
              </a:rPr>
              <a:t>6</a:t>
            </a:r>
            <a:r>
              <a:rPr sz="3000" b="1" i="0" dirty="0">
                <a:solidFill>
                  <a:srgbClr val="1E1B4B"/>
                </a:solidFill>
                <a:latin typeface="Calibri"/>
              </a:rPr>
              <a:t>-10-2026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A34A"/>
                </a:solidFill>
                <a:latin typeface="Calibri"/>
              </a:rPr>
              <a:t>16 →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E1B4B"/>
                </a:solidFill>
                <a:latin typeface="Calibri"/>
              </a:rPr>
              <a:t>historias hechas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de 20 a 22 en el backlog; +3 hechas (+19%)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7830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A34A"/>
                </a:solidFill>
                <a:latin typeface="Calibri"/>
              </a:rPr>
              <a:t>257 → 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468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E1B4B"/>
                </a:solidFill>
                <a:latin typeface="Calibri"/>
              </a:rPr>
              <a:t>pruebas de la base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834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+78 (+30%), incluidos los ataques desde dentro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7830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A34A"/>
                </a:solidFill>
                <a:latin typeface="Calibri"/>
              </a:rPr>
              <a:t>48 →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468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E1B4B"/>
                </a:solidFill>
                <a:latin typeface="Calibri"/>
              </a:rPr>
              <a:t>pruebas del asistente de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834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+21, con daños hechos a mano detectados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64592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0576" y="17830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A34A"/>
                </a:solidFill>
                <a:latin typeface="Calibri"/>
              </a:rPr>
              <a:t>0032 → 0034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4688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E1B4B"/>
                </a:solidFill>
                <a:latin typeface="Calibri"/>
              </a:rPr>
              <a:t>migraciones aplicadas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834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Calibri"/>
              </a:rPr>
              <a:t>plan con fecha y claves por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Lo que se construyó y está en producción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315968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242816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Plan con fecha de término: gracia hasta el lunes, aviso al gerente y suspensión automática (HU-21)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791456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718304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Búsqueda de empresas con clave y límite mensual propios de cada CRM; propone sin datos de contacto (HU-17)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266944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193792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Landing publicada con precios por meses y usuarios incluidos (HU-22)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5742431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669279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Calibri"/>
              </a:rPr>
              <a:t>Tablero Scrumban público y arquitectura 4+1 en el repositorio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Cifras: Product Backlog de la entrega del 06-10, tablero Scrumban y la última corrida de las pruebas.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Scrumban con tablero público en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27070"/>
            <a:ext cx="6675120" cy="44096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01b_tablero_recor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00222"/>
            <a:ext cx="6528816" cy="4263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4592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E1B4B"/>
                </a:solidFill>
                <a:latin typeface="Calibri"/>
              </a:rPr>
              <a:t>Cómo se aplica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2212848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2139696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Tres estados: Pendiente, En curso y Hecho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2779776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2706624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Un bloque grande en curso a la vez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3346704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3273552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Iteraciones cortas que terminan con algo publicado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3913631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3840479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1E293B"/>
                </a:solidFill>
                <a:latin typeface="Calibri"/>
              </a:rPr>
              <a:t>Retrospectiva al cerrar cada iteración, con mejoras reales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663440"/>
            <a:ext cx="4050791" cy="10972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4736592"/>
            <a:ext cx="374903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730A3"/>
                </a:solidFill>
                <a:latin typeface="Calibri"/>
              </a:rPr>
              <a:t>Estado hoy: </a:t>
            </a:r>
            <a:r>
              <a:rPr sz="1250" b="0" i="0">
                <a:solidFill>
                  <a:srgbClr val="1E293B"/>
                </a:solidFill>
                <a:latin typeface="Calibri"/>
              </a:rPr>
              <a:t>28 tarjetas: 22 hechas, 1 en curso y 5 pendientes. Iteraciones 1 a 5 cerradas; la 6 va del 07 al 13-10.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943600"/>
            <a:ext cx="40507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github.com/users/YairCosta/projects/1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El modelo 4+1: cuatro vistas y un escenario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9167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792224"/>
            <a:ext cx="475488" cy="47548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5564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¿Qué datos y conceptos maneja?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65376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3730A3"/>
                </a:solidFill>
                <a:latin typeface="Calibri"/>
              </a:rPr>
              <a:t>Diagrama de clases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42032"/>
            <a:ext cx="1109167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517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Procesos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¿Qué ocurre en ejecución?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76148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3730A3"/>
                </a:solidFill>
                <a:latin typeface="Calibri"/>
              </a:rPr>
              <a:t>Secuencia y estados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38144"/>
            <a:ext cx="1109167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3584448"/>
            <a:ext cx="475488" cy="47548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4787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Desarrollo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4787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¿Cómo se organiza el código?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6576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3730A3"/>
                </a:solidFill>
                <a:latin typeface="Calibri"/>
              </a:rPr>
              <a:t>Diagrama de componentes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34256"/>
            <a:ext cx="1109167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4480560"/>
            <a:ext cx="475488" cy="475488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4398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Física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43984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¿Dónde corre cada pieza?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455371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3730A3"/>
                </a:solidFill>
                <a:latin typeface="Calibri"/>
              </a:rPr>
              <a:t>Diagrama de despliegue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30368"/>
            <a:ext cx="1109167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5376672"/>
            <a:ext cx="475488" cy="47548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+1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340096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1E1B4B"/>
                </a:solidFill>
                <a:latin typeface="Calibri"/>
              </a:rPr>
              <a:t>Escenarios (+1)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4009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¿Cómo lo usan las personas?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5449824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200" b="1">
                <a:solidFill>
                  <a:srgbClr val="3730A3"/>
                </a:solidFill>
                <a:latin typeface="Calibri"/>
              </a:rPr>
              <a:t>Casos de uso (E1 a E5)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Kruchten (1995). Los diagramas usan notación UML 2 y se generan desde el repositorio con `npm run diagramas:uml`.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VISTA LÓGICA · DIAGRAMA DE CLASES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Qué datos maneja y cómo se relacionan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186" y="1481328"/>
            <a:ext cx="10178578" cy="4828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-cla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38" y="1554480"/>
            <a:ext cx="10032274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VISTA DE PROCESOS · DIAGRAMA DE SECUENCIA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Qué ocurre cuando se buscan empresas con el asistente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9255" y="1481328"/>
            <a:ext cx="8710440" cy="4828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2-secue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407" y="1554480"/>
            <a:ext cx="8564136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VISTA DE PROCESOS · DIAGRAMA DE ESTADOS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Ciclo de vida de un lead, hasta el plazo de 30 días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7180"/>
            <a:ext cx="11091672" cy="48163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6-es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60332"/>
            <a:ext cx="10945368" cy="46700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VISTA DE DESARROLLO · DIAGRAMA DE COMPONENTES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Cómo está organizado el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186" y="1481328"/>
            <a:ext cx="10178578" cy="4828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3-componen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38" y="1554480"/>
            <a:ext cx="10032274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VISTA FÍSICA · DIAGRAMA DE 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Dónde corre cada pieza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1199" y="1481328"/>
            <a:ext cx="9266553" cy="4828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4-desplieg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351" y="1554480"/>
            <a:ext cx="9120249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ESCENARIOS (+1) · DIAGRAMA DE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Quién usa Revela y para qué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76645" y="1481328"/>
            <a:ext cx="9035660" cy="4828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5-casos-de-u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797" y="1554480"/>
            <a:ext cx="8889356" cy="4681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Cada escenario se sostiene en las cuatro vistas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55264" cy="457200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64592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0" y="1645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Lógica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645920"/>
            <a:ext cx="1975104" cy="457200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Procesos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2157984" cy="457200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645920"/>
            <a:ext cx="20116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Desarrollo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645920"/>
            <a:ext cx="1545336" cy="457200"/>
          </a:xfrm>
          <a:prstGeom prst="roundRect">
            <a:avLst>
              <a:gd name="adj" fmla="val 6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0" y="1645920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Física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76272"/>
            <a:ext cx="325526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3108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E1 · Buscar empresas con el asistente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176272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0" y="2176272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claves y cupo por 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176272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2176272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secuencia del asistente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176272"/>
            <a:ext cx="215798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2176272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aiChat, leadSearch, placesUsage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176272"/>
            <a:ext cx="154533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2176272"/>
            <a:ext cx="13990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función /api/ai y Vault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44368"/>
            <a:ext cx="325526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2944368"/>
            <a:ext cx="3108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E2 · Capturar y mover un lead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2944368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294436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leads, contactos, zonas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2944368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0" y="2944368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reglas, RLS y auditoría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2944368"/>
            <a:ext cx="215798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79" y="2944368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tenantGuards, permissions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2944368"/>
            <a:ext cx="1545336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49840" y="2944368"/>
            <a:ext cx="13990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navegador → Supabase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12463"/>
            <a:ext cx="325526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712463"/>
            <a:ext cx="3108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E3 · Derechos del titular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3712463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31920" y="3712463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solicitudes y auditoría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3712463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0" y="3712463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bloqueo hasta resolver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63840" y="3712463"/>
            <a:ext cx="215798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55279" y="3712463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privacy.ts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3712463"/>
            <a:ext cx="154533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3712463"/>
            <a:ext cx="13990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Supabase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480560"/>
            <a:ext cx="325526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480560"/>
            <a:ext cx="3108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E4 · Suspender plan vencido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4480560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31920" y="4480560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companies.plan_ends_on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52160" y="4480560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0" y="4480560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tarea nocturna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4480560"/>
            <a:ext cx="2157984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55279" y="4480560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plan.ts, PlanBanner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58400" y="4480560"/>
            <a:ext cx="1545336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49840" y="4480560"/>
            <a:ext cx="13990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pg_cron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248656"/>
            <a:ext cx="325526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5248656"/>
            <a:ext cx="3108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 i="0">
                <a:solidFill>
                  <a:srgbClr val="1E1B4B"/>
                </a:solidFill>
                <a:latin typeface="Calibri"/>
              </a:rPr>
              <a:t>E5 · Presupuesto, clave y límite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0" y="5248656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31920" y="5248656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ajustes y Vault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52160" y="5248656"/>
            <a:ext cx="19751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43600" y="5248656"/>
            <a:ext cx="18288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solo la gerencia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63840" y="5248656"/>
            <a:ext cx="215798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55279" y="5248656"/>
            <a:ext cx="201167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aiBudget, placesUsage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0" y="5248656"/>
            <a:ext cx="1545336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49840" y="5248656"/>
            <a:ext cx="13990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E293B"/>
                </a:solidFill>
                <a:latin typeface="Calibri"/>
              </a:rPr>
              <a:t>función /api/ai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Pruebas del asistente de IA: 69 de 69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90665" y="1508760"/>
            <a:ext cx="760762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03_pruebas_asistente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17" y="1581912"/>
            <a:ext cx="7461316" cy="4608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Pruebas contra la base de Supabase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70509"/>
            <a:ext cx="11091672" cy="32313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04_pruebas_base_de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343661"/>
            <a:ext cx="10945368" cy="3085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Resto de las suites de pruebas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85288"/>
            <a:ext cx="11091672" cy="36018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05_resumen_prueb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58440"/>
            <a:ext cx="10945368" cy="3455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Migraciones aplicadas en Supabase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362" y="1508760"/>
            <a:ext cx="10826227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06_migraciones_aplic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14" y="1581912"/>
            <a:ext cx="10679923" cy="4608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4F46E5"/>
                </a:solidFill>
                <a:latin typeface="Calibri"/>
              </a:rPr>
              <a:t>EVIDENCIA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E1B4B"/>
                </a:solidFill>
                <a:latin typeface="Calibri"/>
              </a:rPr>
              <a:t>App publicada con su demo pública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4463" y="1508760"/>
            <a:ext cx="7520025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08_app_publicad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15" y="1581912"/>
            <a:ext cx="7373721" cy="4608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Revela · Arquitectura 4+1, innovación y avance · Yair Hamir Costa Pérez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41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960</Words>
  <Application>Microsoft Office PowerPoint</Application>
  <PresentationFormat>Panorámica</PresentationFormat>
  <Paragraphs>141</Paragraphs>
  <Slides>15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yair costa perez</cp:lastModifiedBy>
  <cp:revision>3</cp:revision>
  <dcterms:created xsi:type="dcterms:W3CDTF">2013-01-27T09:14:16Z</dcterms:created>
  <dcterms:modified xsi:type="dcterms:W3CDTF">2026-10-13T02:38:24Z</dcterms:modified>
  <cp:category/>
</cp:coreProperties>
</file>