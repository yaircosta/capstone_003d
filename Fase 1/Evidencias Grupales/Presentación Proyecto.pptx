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Hecho</c:v>
                </c:pt>
              </c:strCache>
            </c:strRef>
          </c:tx>
          <c:spPr>
            <a:solidFill>
              <a:srgbClr val="16A34A"/>
            </a:solidFill>
          </c:spPr>
          <c:dLbls>
            <c:txPr>
              <a:bodyPr/>
              <a:lstStyle/>
              <a:p>
                <a:pPr>
                  <a:defRPr sz="1600" b="1">
                    <a:solidFill>
                      <a:srgbClr val="FFFFFF"/>
                    </a:solidFill>
                  </a:defRPr>
                </a:pPr>
              </a:p>
            </c:txPr>
            <c:dLblPos val="ctr"/>
            <c:showLegendKey val="0"/>
            <c:showVal val="1"/>
            <c:showCatName val="0"/>
            <c:showSerName val="0"/>
            <c:showPercent val="0"/>
            <c:showBubbleSize val="0"/>
            <c:showLeaderLines val="1"/>
          </c:dLbls>
          <c:cat>
            <c:strRef>
              <c:f>Sheet1!$A$2:$A$5</c:f>
              <c:strCache>
                <c:ptCount val="4"/>
                <c:pt idx="0">
                  <c:v>P1 Imprescindible</c:v>
                </c:pt>
                <c:pt idx="1">
                  <c:v>P2 Competitivo</c:v>
                </c:pt>
                <c:pt idx="2">
                  <c:v>P3 Depende de terceros</c:v>
                </c:pt>
                <c:pt idx="3">
                  <c:v>P4 Fuera del MVP</c:v>
                </c:pt>
              </c:strCache>
            </c:strRef>
          </c:cat>
          <c:val>
            <c:numRef>
              <c:f>Sheet1!$B$2:$B$5</c:f>
              <c:numCache>
                <c:formatCode>General</c:formatCode>
                <c:ptCount val="4"/>
                <c:pt idx="0">
                  <c:v>10</c:v>
                </c:pt>
                <c:pt idx="1">
                  <c:v>6</c:v>
                </c:pt>
              </c:numCache>
            </c:numRef>
          </c:val>
        </c:ser>
        <c:ser>
          <c:idx val="1"/>
          <c:order val="1"/>
          <c:tx>
            <c:strRef>
              <c:f>Sheet1!$C$1</c:f>
              <c:strCache>
                <c:ptCount val="1"/>
                <c:pt idx="0">
                  <c:v>Pendiente</c:v>
                </c:pt>
              </c:strCache>
            </c:strRef>
          </c:tx>
          <c:spPr>
            <a:solidFill>
              <a:srgbClr val="D97706"/>
            </a:solidFill>
          </c:spPr>
          <c:dLbls>
            <c:txPr>
              <a:bodyPr/>
              <a:lstStyle/>
              <a:p>
                <a:pPr>
                  <a:defRPr sz="1600" b="1">
                    <a:solidFill>
                      <a:srgbClr val="FFFFFF"/>
                    </a:solidFill>
                  </a:defRPr>
                </a:pPr>
              </a:p>
            </c:txPr>
            <c:dLblPos val="ctr"/>
            <c:showLegendKey val="0"/>
            <c:showVal val="1"/>
            <c:showCatName val="0"/>
            <c:showSerName val="0"/>
            <c:showPercent val="0"/>
            <c:showBubbleSize val="0"/>
            <c:showLeaderLines val="1"/>
          </c:dLbls>
          <c:cat>
            <c:strRef>
              <c:f>Sheet1!$A$2:$A$5</c:f>
              <c:strCache>
                <c:ptCount val="4"/>
                <c:pt idx="0">
                  <c:v>P1 Imprescindible</c:v>
                </c:pt>
                <c:pt idx="1">
                  <c:v>P2 Competitivo</c:v>
                </c:pt>
                <c:pt idx="2">
                  <c:v>P3 Depende de terceros</c:v>
                </c:pt>
                <c:pt idx="3">
                  <c:v>P4 Fuera del MVP</c:v>
                </c:pt>
              </c:strCache>
            </c:strRef>
          </c:cat>
          <c:val>
            <c:numRef>
              <c:f>Sheet1!$C$2:$C$5</c:f>
              <c:numCache>
                <c:formatCode>General</c:formatCode>
                <c:ptCount val="4"/>
                <c:pt idx="2">
                  <c:v>3</c:v>
                </c:pt>
              </c:numCache>
            </c:numRef>
          </c:val>
        </c:ser>
        <c:ser>
          <c:idx val="2"/>
          <c:order val="2"/>
          <c:tx>
            <c:strRef>
              <c:f>Sheet1!$D$1</c:f>
              <c:strCache>
                <c:ptCount val="1"/>
                <c:pt idx="0">
                  <c:v>Fuera del MVP</c:v>
                </c:pt>
              </c:strCache>
            </c:strRef>
          </c:tx>
          <c:spPr>
            <a:solidFill>
              <a:srgbClr val="94A3B8"/>
            </a:solidFill>
          </c:spPr>
          <c:dLbls>
            <c:txPr>
              <a:bodyPr/>
              <a:lstStyle/>
              <a:p>
                <a:pPr>
                  <a:defRPr sz="1600" b="1">
                    <a:solidFill>
                      <a:srgbClr val="FFFFFF"/>
                    </a:solidFill>
                  </a:defRPr>
                </a:pPr>
              </a:p>
            </c:txPr>
            <c:dLblPos val="ctr"/>
            <c:showLegendKey val="0"/>
            <c:showVal val="1"/>
            <c:showCatName val="0"/>
            <c:showSerName val="0"/>
            <c:showPercent val="0"/>
            <c:showBubbleSize val="0"/>
            <c:showLeaderLines val="1"/>
          </c:dLbls>
          <c:cat>
            <c:strRef>
              <c:f>Sheet1!$A$2:$A$5</c:f>
              <c:strCache>
                <c:ptCount val="4"/>
                <c:pt idx="0">
                  <c:v>P1 Imprescindible</c:v>
                </c:pt>
                <c:pt idx="1">
                  <c:v>P2 Competitivo</c:v>
                </c:pt>
                <c:pt idx="2">
                  <c:v>P3 Depende de terceros</c:v>
                </c:pt>
                <c:pt idx="3">
                  <c:v>P4 Fuera del MVP</c:v>
                </c:pt>
              </c:strCache>
            </c:strRef>
          </c:cat>
          <c:val>
            <c:numRef>
              <c:f>Sheet1!$D$2:$D$5</c:f>
              <c:numCache>
                <c:formatCode>General</c:formatCode>
                <c:ptCount val="4"/>
                <c:pt idx="3">
                  <c:v>1</c:v>
                </c:pt>
              </c:numCache>
            </c:numRef>
          </c:val>
        </c:ser>
        <c:gapWidth val="60"/>
        <c:overlap val="100"/>
        <c:axId val="-2068027336"/>
        <c:axId val="-2113994440"/>
      </c:barChart>
      <c:catAx>
        <c:axId val="-2068027336"/>
        <c:scaling>
          <c:orientation val="minMax"/>
        </c:scaling>
        <c:delete val="0"/>
        <c:axPos val="b"/>
        <c:majorTickMark val="out"/>
        <c:minorTickMark val="none"/>
        <c:tickLblPos val="nextTo"/>
        <c:spPr>
          <a:ln>
            <a:solidFill>
              <a:srgbClr val="CBD5E1"/>
            </a:solidFill>
          </a:ln>
        </c:spPr>
        <c:txPr>
          <a:bodyPr/>
          <a:lstStyle/>
          <a:p>
            <a:pPr>
              <a:defRPr sz="1200">
                <a:latin typeface="Calibri"/>
              </a:defRPr>
            </a:pPr>
          </a:p>
        </c:txPr>
        <c:crossAx val="-2113994440"/>
        <c:crosses val="autoZero"/>
        <c:auto val="1"/>
        <c:lblAlgn val="ctr"/>
        <c:lblOffset val="100"/>
        <c:noMultiLvlLbl val="0"/>
      </c:catAx>
      <c:valAx>
        <c:axId val="-2113994440"/>
        <c:scaling>
          <c:max val="11.0"/>
        </c:scaling>
        <c:delete/>
        <c:axPos val="l"/>
        <c:majorTickMark val="out"/>
        <c:minorTickMark val="none"/>
        <c:tickLblPos val="nextTo"/>
        <c:crossAx val="-2068027336"/>
        <c:crosses val="autoZero"/>
      </c:valAx>
    </c:plotArea>
    <c:legend>
      <c:legendPos val="b"/>
      <c:overlay val="0"/>
      <c:txPr>
        <a:bodyPr/>
        <a:lstStyle/>
        <a:p>
          <a:pPr>
            <a:defRPr sz="1200">
              <a:latin typeface="Calibri"/>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Presento tres cosas: el estado de la documentación de la metodología, el avance de la aplicación y lo que falta, y el roadmap hasta la semana 18.</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seis documentos que pidió la profesora están hechos y subidos al repositorio. Sumé el acta de inicio. Lo único que falta es cerrar la retrospectiva de la quinta iteración, que termina el 06-10, y la firma del acta.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Estos son los módulos que ya funcionan en la aplicación publicada. Lo diferente es que ubica los leads por zona oficial, sin guardar la ubicación exacta de nadie, y que los datos de cada empresa no se mezclan nunca.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backlog es la lista priorizada de lo que se quiere construir. Las 10 historias imprescindibles y las 6 competitivas están hechas. Lo pendiente depende de terceros o de decisiones del negocio.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 que falta se divide en dos: lo que le falta al producto, que depende sobre todo de terceros, y lo que falta de la entrega de la asignatura.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roadmap sigue el plan de trabajo de la guía de definición del proyecto. Estamos en la semana 9. Hasta la semana 15 está la Fase 2, con el piloto, las pruebas, el Docker y el informe de avance, y de la 16 a la 18 la Fase 3, con el informe final y la presentación.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Todo lo que mostré está en el repositorio de GitHub, y la demo se puede abrir sin cuenta. Resumen: el producto está publicado y probado; falta el Docker, el piloto con la empresa y los informes.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1B4B"/>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7955279" y="1417320"/>
            <a:ext cx="3291840" cy="3291840"/>
          </a:xfrm>
          <a:prstGeom prst="rect">
            <a:avLst/>
          </a:prstGeom>
        </p:spPr>
      </p:pic>
      <p:sp>
        <p:nvSpPr>
          <p:cNvPr id="3" name="TextBox 2"/>
          <p:cNvSpPr txBox="1"/>
          <p:nvPr/>
        </p:nvSpPr>
        <p:spPr>
          <a:xfrm>
            <a:off x="731520" y="1554480"/>
            <a:ext cx="6766560" cy="365760"/>
          </a:xfrm>
          <a:prstGeom prst="rect">
            <a:avLst/>
          </a:prstGeom>
          <a:noFill/>
        </p:spPr>
        <p:txBody>
          <a:bodyPr wrap="square" lIns="0" rIns="0" tIns="0" bIns="0" anchor="t">
            <a:spAutoFit/>
          </a:bodyPr>
          <a:lstStyle/>
          <a:p>
            <a:pPr algn="l">
              <a:lnSpc>
                <a:spcPct val="105000"/>
              </a:lnSpc>
              <a:spcAft>
                <a:spcPts val="0"/>
              </a:spcAft>
            </a:pPr>
            <a:r>
              <a:rPr sz="1600" b="1" i="0">
                <a:solidFill>
                  <a:srgbClr val="A5B4FC"/>
                </a:solidFill>
                <a:latin typeface="Calibri"/>
              </a:rPr>
              <a:t>PROYECTO REVELA · CAPSTONE APT122</a:t>
            </a:r>
          </a:p>
        </p:txBody>
      </p:sp>
      <p:sp>
        <p:nvSpPr>
          <p:cNvPr id="4" name="TextBox 3"/>
          <p:cNvSpPr txBox="1"/>
          <p:nvPr/>
        </p:nvSpPr>
        <p:spPr>
          <a:xfrm>
            <a:off x="731520" y="2057400"/>
            <a:ext cx="6949440" cy="1828800"/>
          </a:xfrm>
          <a:prstGeom prst="rect">
            <a:avLst/>
          </a:prstGeom>
          <a:noFill/>
        </p:spPr>
        <p:txBody>
          <a:bodyPr wrap="square" lIns="0" rIns="0" tIns="0" bIns="0" anchor="t">
            <a:spAutoFit/>
          </a:bodyPr>
          <a:lstStyle/>
          <a:p>
            <a:pPr algn="l">
              <a:lnSpc>
                <a:spcPct val="95000"/>
              </a:lnSpc>
              <a:spcAft>
                <a:spcPts val="0"/>
              </a:spcAft>
            </a:pPr>
            <a:r>
              <a:rPr sz="4600" b="1" i="0">
                <a:solidFill>
                  <a:srgbClr val="FFFFFF"/>
                </a:solidFill>
                <a:latin typeface="Calibri"/>
              </a:rPr>
              <a:t>Avance del aplicativo y roadmap</a:t>
            </a:r>
          </a:p>
        </p:txBody>
      </p:sp>
      <p:sp>
        <p:nvSpPr>
          <p:cNvPr id="5" name="TextBox 4"/>
          <p:cNvSpPr txBox="1"/>
          <p:nvPr/>
        </p:nvSpPr>
        <p:spPr>
          <a:xfrm>
            <a:off x="731520" y="3977639"/>
            <a:ext cx="6766560" cy="731520"/>
          </a:xfrm>
          <a:prstGeom prst="rect">
            <a:avLst/>
          </a:prstGeom>
          <a:noFill/>
        </p:spPr>
        <p:txBody>
          <a:bodyPr wrap="square" lIns="0" rIns="0" tIns="0" bIns="0" anchor="t">
            <a:spAutoFit/>
          </a:bodyPr>
          <a:lstStyle/>
          <a:p>
            <a:pPr algn="l">
              <a:lnSpc>
                <a:spcPct val="105000"/>
              </a:lnSpc>
              <a:spcAft>
                <a:spcPts val="0"/>
              </a:spcAft>
            </a:pPr>
            <a:r>
              <a:rPr sz="2400" b="0" i="0">
                <a:solidFill>
                  <a:srgbClr val="C7D2FE"/>
                </a:solidFill>
                <a:latin typeface="Calibri"/>
              </a:rPr>
              <a:t>Lo que ya está y lo que falta</a:t>
            </a:r>
          </a:p>
        </p:txBody>
      </p:sp>
      <p:sp>
        <p:nvSpPr>
          <p:cNvPr id="6" name="TextBox 5"/>
          <p:cNvSpPr txBox="1"/>
          <p:nvPr/>
        </p:nvSpPr>
        <p:spPr>
          <a:xfrm>
            <a:off x="731520" y="5394960"/>
            <a:ext cx="7315200" cy="365760"/>
          </a:xfrm>
          <a:prstGeom prst="rect">
            <a:avLst/>
          </a:prstGeom>
          <a:noFill/>
        </p:spPr>
        <p:txBody>
          <a:bodyPr wrap="square" lIns="0" rIns="0" tIns="0" bIns="0" anchor="t">
            <a:spAutoFit/>
          </a:bodyPr>
          <a:lstStyle/>
          <a:p>
            <a:pPr algn="l">
              <a:lnSpc>
                <a:spcPct val="105000"/>
              </a:lnSpc>
              <a:spcAft>
                <a:spcPts val="0"/>
              </a:spcAft>
            </a:pPr>
            <a:r>
              <a:rPr sz="1500" b="0" i="0">
                <a:solidFill>
                  <a:srgbClr val="E0E7FF"/>
                </a:solidFill>
                <a:latin typeface="Calibri"/>
              </a:rPr>
              <a:t>Yair Hamir Costa Pérez · sección 003D · Duoc UC, Sede Antonio Varas</a:t>
            </a:r>
          </a:p>
        </p:txBody>
      </p:sp>
      <p:sp>
        <p:nvSpPr>
          <p:cNvPr id="7" name="TextBox 6"/>
          <p:cNvSpPr txBox="1"/>
          <p:nvPr/>
        </p:nvSpPr>
        <p:spPr>
          <a:xfrm>
            <a:off x="731520" y="5760720"/>
            <a:ext cx="7315200" cy="365760"/>
          </a:xfrm>
          <a:prstGeom prst="rect">
            <a:avLst/>
          </a:prstGeom>
          <a:noFill/>
        </p:spPr>
        <p:txBody>
          <a:bodyPr wrap="square" lIns="0" rIns="0" tIns="0" bIns="0" anchor="t">
            <a:spAutoFit/>
          </a:bodyPr>
          <a:lstStyle/>
          <a:p>
            <a:pPr algn="l">
              <a:lnSpc>
                <a:spcPct val="105000"/>
              </a:lnSpc>
              <a:spcAft>
                <a:spcPts val="0"/>
              </a:spcAft>
            </a:pPr>
            <a:r>
              <a:rPr sz="1500" b="0" i="0">
                <a:solidFill>
                  <a:srgbClr val="A5B4FC"/>
                </a:solidFill>
                <a:latin typeface="Calibri"/>
              </a:rPr>
              <a:t>Clase del 06-10-2026 · Docente: Rocío Contreras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0972800" cy="320040"/>
          </a:xfrm>
          <a:prstGeom prst="rect">
            <a:avLst/>
          </a:prstGeom>
          <a:noFill/>
        </p:spPr>
        <p:txBody>
          <a:bodyPr wrap="square" lIns="0" rIns="0" tIns="0" bIns="0" anchor="t">
            <a:spAutoFit/>
          </a:bodyPr>
          <a:lstStyle/>
          <a:p>
            <a:pPr algn="l">
              <a:lnSpc>
                <a:spcPct val="105000"/>
              </a:lnSpc>
              <a:spcAft>
                <a:spcPts val="0"/>
              </a:spcAft>
            </a:pPr>
            <a:r>
              <a:rPr sz="1400" b="1" i="0">
                <a:solidFill>
                  <a:srgbClr val="E11D48"/>
                </a:solidFill>
                <a:latin typeface="Calibri"/>
              </a:rPr>
              <a:t>DOCUMENTACIÓN DE LA METODOLOGÍA</a:t>
            </a:r>
          </a:p>
        </p:txBody>
      </p:sp>
      <p:sp>
        <p:nvSpPr>
          <p:cNvPr id="3" name="TextBox 2"/>
          <p:cNvSpPr txBox="1"/>
          <p:nvPr/>
        </p:nvSpPr>
        <p:spPr>
          <a:xfrm>
            <a:off x="548640" y="713232"/>
            <a:ext cx="11064240" cy="731520"/>
          </a:xfrm>
          <a:prstGeom prst="rect">
            <a:avLst/>
          </a:prstGeom>
          <a:noFill/>
        </p:spPr>
        <p:txBody>
          <a:bodyPr wrap="square" lIns="0" rIns="0" tIns="0" bIns="0" anchor="t">
            <a:spAutoFit/>
          </a:bodyPr>
          <a:lstStyle/>
          <a:p>
            <a:pPr algn="l">
              <a:lnSpc>
                <a:spcPct val="105000"/>
              </a:lnSpc>
              <a:spcAft>
                <a:spcPts val="0"/>
              </a:spcAft>
            </a:pPr>
            <a:r>
              <a:rPr sz="3000" b="1" i="0">
                <a:solidFill>
                  <a:srgbClr val="1E1B4B"/>
                </a:solidFill>
                <a:latin typeface="Calibri"/>
              </a:rPr>
              <a:t>Los 6 documentos están hechos</a:t>
            </a:r>
          </a:p>
        </p:txBody>
      </p:sp>
      <p:sp>
        <p:nvSpPr>
          <p:cNvPr id="4" name="Rounded Rectangle 3"/>
          <p:cNvSpPr/>
          <p:nvPr/>
        </p:nvSpPr>
        <p:spPr>
          <a:xfrm>
            <a:off x="548640" y="1691640"/>
            <a:ext cx="6766560" cy="64008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64792"/>
            <a:ext cx="4023360" cy="274320"/>
          </a:xfrm>
          <a:prstGeom prst="rect">
            <a:avLst/>
          </a:prstGeom>
          <a:noFill/>
        </p:spPr>
        <p:txBody>
          <a:bodyPr wrap="square" lIns="0" rIns="0" tIns="0" bIns="0" anchor="t">
            <a:spAutoFit/>
          </a:bodyPr>
          <a:lstStyle/>
          <a:p>
            <a:pPr algn="l">
              <a:lnSpc>
                <a:spcPct val="105000"/>
              </a:lnSpc>
              <a:spcAft>
                <a:spcPts val="0"/>
              </a:spcAft>
            </a:pPr>
            <a:r>
              <a:rPr sz="1500" b="1" i="0">
                <a:solidFill>
                  <a:srgbClr val="1E1B4B"/>
                </a:solidFill>
                <a:latin typeface="Calibri"/>
              </a:rPr>
              <a:t>Metodología declarada y justificada</a:t>
            </a:r>
          </a:p>
        </p:txBody>
      </p:sp>
      <p:sp>
        <p:nvSpPr>
          <p:cNvPr id="6" name="TextBox 5"/>
          <p:cNvSpPr txBox="1"/>
          <p:nvPr/>
        </p:nvSpPr>
        <p:spPr>
          <a:xfrm>
            <a:off x="777240" y="2039112"/>
            <a:ext cx="4206240" cy="274320"/>
          </a:xfrm>
          <a:prstGeom prst="rect">
            <a:avLst/>
          </a:prstGeom>
          <a:noFill/>
        </p:spPr>
        <p:txBody>
          <a:bodyPr wrap="square" lIns="0" rIns="0" tIns="0" bIns="0" anchor="t">
            <a:spAutoFit/>
          </a:bodyPr>
          <a:lstStyle/>
          <a:p>
            <a:pPr algn="l">
              <a:lnSpc>
                <a:spcPct val="105000"/>
              </a:lnSpc>
              <a:spcAft>
                <a:spcPts val="0"/>
              </a:spcAft>
            </a:pPr>
            <a:r>
              <a:rPr sz="1100" b="0" i="0">
                <a:solidFill>
                  <a:srgbClr val="64748B"/>
                </a:solidFill>
                <a:latin typeface="Calibri"/>
              </a:rPr>
              <a:t>Kanban/Scrumban, comparada con cascada y Scrum</a:t>
            </a:r>
          </a:p>
        </p:txBody>
      </p:sp>
      <p:sp>
        <p:nvSpPr>
          <p:cNvPr id="7" name="Rounded Rectangle 6"/>
          <p:cNvSpPr/>
          <p:nvPr/>
        </p:nvSpPr>
        <p:spPr>
          <a:xfrm>
            <a:off x="5760720" y="1865376"/>
            <a:ext cx="1371600" cy="292608"/>
          </a:xfrm>
          <a:prstGeom prst="roundRect">
            <a:avLst>
              <a:gd name="adj" fmla="val 50000"/>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100" b="1">
                <a:solidFill>
                  <a:srgbClr val="166534"/>
                </a:solidFill>
                <a:latin typeface="Calibri"/>
              </a:rPr>
              <a:t>Listo</a:t>
            </a:r>
          </a:p>
        </p:txBody>
      </p:sp>
      <p:sp>
        <p:nvSpPr>
          <p:cNvPr id="8" name="Rounded Rectangle 7"/>
          <p:cNvSpPr/>
          <p:nvPr/>
        </p:nvSpPr>
        <p:spPr>
          <a:xfrm>
            <a:off x="548640" y="2441448"/>
            <a:ext cx="6766560" cy="64008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514600"/>
            <a:ext cx="4023360" cy="274320"/>
          </a:xfrm>
          <a:prstGeom prst="rect">
            <a:avLst/>
          </a:prstGeom>
          <a:noFill/>
        </p:spPr>
        <p:txBody>
          <a:bodyPr wrap="square" lIns="0" rIns="0" tIns="0" bIns="0" anchor="t">
            <a:spAutoFit/>
          </a:bodyPr>
          <a:lstStyle/>
          <a:p>
            <a:pPr algn="l">
              <a:lnSpc>
                <a:spcPct val="105000"/>
              </a:lnSpc>
              <a:spcAft>
                <a:spcPts val="0"/>
              </a:spcAft>
            </a:pPr>
            <a:r>
              <a:rPr sz="1500" b="1" i="0">
                <a:solidFill>
                  <a:srgbClr val="1E1B4B"/>
                </a:solidFill>
                <a:latin typeface="Calibri"/>
              </a:rPr>
              <a:t>Product Vision</a:t>
            </a:r>
          </a:p>
        </p:txBody>
      </p:sp>
      <p:sp>
        <p:nvSpPr>
          <p:cNvPr id="10" name="TextBox 9"/>
          <p:cNvSpPr txBox="1"/>
          <p:nvPr/>
        </p:nvSpPr>
        <p:spPr>
          <a:xfrm>
            <a:off x="777240" y="2788920"/>
            <a:ext cx="4206240" cy="274320"/>
          </a:xfrm>
          <a:prstGeom prst="rect">
            <a:avLst/>
          </a:prstGeom>
          <a:noFill/>
        </p:spPr>
        <p:txBody>
          <a:bodyPr wrap="square" lIns="0" rIns="0" tIns="0" bIns="0" anchor="t">
            <a:spAutoFit/>
          </a:bodyPr>
          <a:lstStyle/>
          <a:p>
            <a:pPr algn="l">
              <a:lnSpc>
                <a:spcPct val="105000"/>
              </a:lnSpc>
              <a:spcAft>
                <a:spcPts val="0"/>
              </a:spcAft>
            </a:pPr>
            <a:r>
              <a:rPr sz="1100" b="0" i="0">
                <a:solidFill>
                  <a:srgbClr val="64748B"/>
                </a:solidFill>
                <a:latin typeface="Calibri"/>
              </a:rPr>
              <a:t>Problema, usuarios y propuesta de valor</a:t>
            </a:r>
          </a:p>
        </p:txBody>
      </p:sp>
      <p:sp>
        <p:nvSpPr>
          <p:cNvPr id="11" name="Rounded Rectangle 10"/>
          <p:cNvSpPr/>
          <p:nvPr/>
        </p:nvSpPr>
        <p:spPr>
          <a:xfrm>
            <a:off x="5760720" y="2615184"/>
            <a:ext cx="1371600" cy="292608"/>
          </a:xfrm>
          <a:prstGeom prst="roundRect">
            <a:avLst>
              <a:gd name="adj" fmla="val 50000"/>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100" b="1">
                <a:solidFill>
                  <a:srgbClr val="166534"/>
                </a:solidFill>
                <a:latin typeface="Calibri"/>
              </a:rPr>
              <a:t>Listo</a:t>
            </a:r>
          </a:p>
        </p:txBody>
      </p:sp>
      <p:sp>
        <p:nvSpPr>
          <p:cNvPr id="12" name="Rounded Rectangle 11"/>
          <p:cNvSpPr/>
          <p:nvPr/>
        </p:nvSpPr>
        <p:spPr>
          <a:xfrm>
            <a:off x="548640" y="3191256"/>
            <a:ext cx="6766560" cy="64008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264408"/>
            <a:ext cx="4023360" cy="274320"/>
          </a:xfrm>
          <a:prstGeom prst="rect">
            <a:avLst/>
          </a:prstGeom>
          <a:noFill/>
        </p:spPr>
        <p:txBody>
          <a:bodyPr wrap="square" lIns="0" rIns="0" tIns="0" bIns="0" anchor="t">
            <a:spAutoFit/>
          </a:bodyPr>
          <a:lstStyle/>
          <a:p>
            <a:pPr algn="l">
              <a:lnSpc>
                <a:spcPct val="105000"/>
              </a:lnSpc>
              <a:spcAft>
                <a:spcPts val="0"/>
              </a:spcAft>
            </a:pPr>
            <a:r>
              <a:rPr sz="1500" b="1" i="0">
                <a:solidFill>
                  <a:srgbClr val="1E1B4B"/>
                </a:solidFill>
                <a:latin typeface="Calibri"/>
              </a:rPr>
              <a:t>Product Backlog</a:t>
            </a:r>
          </a:p>
        </p:txBody>
      </p:sp>
      <p:sp>
        <p:nvSpPr>
          <p:cNvPr id="14" name="TextBox 13"/>
          <p:cNvSpPr txBox="1"/>
          <p:nvPr/>
        </p:nvSpPr>
        <p:spPr>
          <a:xfrm>
            <a:off x="777240" y="3538728"/>
            <a:ext cx="4206240" cy="274320"/>
          </a:xfrm>
          <a:prstGeom prst="rect">
            <a:avLst/>
          </a:prstGeom>
          <a:noFill/>
        </p:spPr>
        <p:txBody>
          <a:bodyPr wrap="square" lIns="0" rIns="0" tIns="0" bIns="0" anchor="t">
            <a:spAutoFit/>
          </a:bodyPr>
          <a:lstStyle/>
          <a:p>
            <a:pPr algn="l">
              <a:lnSpc>
                <a:spcPct val="105000"/>
              </a:lnSpc>
              <a:spcAft>
                <a:spcPts val="0"/>
              </a:spcAft>
            </a:pPr>
            <a:r>
              <a:rPr sz="1100" b="0" i="0">
                <a:solidFill>
                  <a:srgbClr val="64748B"/>
                </a:solidFill>
                <a:latin typeface="Calibri"/>
              </a:rPr>
              <a:t>20 historias de usuario priorizadas, 16 hechas</a:t>
            </a:r>
          </a:p>
        </p:txBody>
      </p:sp>
      <p:sp>
        <p:nvSpPr>
          <p:cNvPr id="15" name="Rounded Rectangle 14"/>
          <p:cNvSpPr/>
          <p:nvPr/>
        </p:nvSpPr>
        <p:spPr>
          <a:xfrm>
            <a:off x="5760720" y="3364992"/>
            <a:ext cx="1371600" cy="292608"/>
          </a:xfrm>
          <a:prstGeom prst="roundRect">
            <a:avLst>
              <a:gd name="adj" fmla="val 50000"/>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100" b="1">
                <a:solidFill>
                  <a:srgbClr val="166534"/>
                </a:solidFill>
                <a:latin typeface="Calibri"/>
              </a:rPr>
              <a:t>Listo</a:t>
            </a:r>
          </a:p>
        </p:txBody>
      </p:sp>
      <p:sp>
        <p:nvSpPr>
          <p:cNvPr id="16" name="Rounded Rectangle 15"/>
          <p:cNvSpPr/>
          <p:nvPr/>
        </p:nvSpPr>
        <p:spPr>
          <a:xfrm>
            <a:off x="548640" y="3941064"/>
            <a:ext cx="6766560" cy="64008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014216"/>
            <a:ext cx="4023360" cy="274320"/>
          </a:xfrm>
          <a:prstGeom prst="rect">
            <a:avLst/>
          </a:prstGeom>
          <a:noFill/>
        </p:spPr>
        <p:txBody>
          <a:bodyPr wrap="square" lIns="0" rIns="0" tIns="0" bIns="0" anchor="t">
            <a:spAutoFit/>
          </a:bodyPr>
          <a:lstStyle/>
          <a:p>
            <a:pPr algn="l">
              <a:lnSpc>
                <a:spcPct val="105000"/>
              </a:lnSpc>
              <a:spcAft>
                <a:spcPts val="0"/>
              </a:spcAft>
            </a:pPr>
            <a:r>
              <a:rPr sz="1500" b="1" i="0">
                <a:solidFill>
                  <a:srgbClr val="1E1B4B"/>
                </a:solidFill>
                <a:latin typeface="Calibri"/>
              </a:rPr>
              <a:t>Sprint Backlog</a:t>
            </a:r>
          </a:p>
        </p:txBody>
      </p:sp>
      <p:sp>
        <p:nvSpPr>
          <p:cNvPr id="18" name="TextBox 17"/>
          <p:cNvSpPr txBox="1"/>
          <p:nvPr/>
        </p:nvSpPr>
        <p:spPr>
          <a:xfrm>
            <a:off x="777240" y="4288536"/>
            <a:ext cx="4206240" cy="274320"/>
          </a:xfrm>
          <a:prstGeom prst="rect">
            <a:avLst/>
          </a:prstGeom>
          <a:noFill/>
        </p:spPr>
        <p:txBody>
          <a:bodyPr wrap="square" lIns="0" rIns="0" tIns="0" bIns="0" anchor="t">
            <a:spAutoFit/>
          </a:bodyPr>
          <a:lstStyle/>
          <a:p>
            <a:pPr algn="l">
              <a:lnSpc>
                <a:spcPct val="105000"/>
              </a:lnSpc>
              <a:spcAft>
                <a:spcPts val="0"/>
              </a:spcAft>
            </a:pPr>
            <a:r>
              <a:rPr sz="1100" b="0" i="0">
                <a:solidFill>
                  <a:srgbClr val="64748B"/>
                </a:solidFill>
                <a:latin typeface="Calibri"/>
              </a:rPr>
              <a:t>5 iteraciones; la quinta está en curso</a:t>
            </a:r>
          </a:p>
        </p:txBody>
      </p:sp>
      <p:sp>
        <p:nvSpPr>
          <p:cNvPr id="19" name="Rounded Rectangle 18"/>
          <p:cNvSpPr/>
          <p:nvPr/>
        </p:nvSpPr>
        <p:spPr>
          <a:xfrm>
            <a:off x="5760720" y="4114800"/>
            <a:ext cx="1371600" cy="292608"/>
          </a:xfrm>
          <a:prstGeom prst="roundRect">
            <a:avLst>
              <a:gd name="adj" fmla="val 50000"/>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100" b="1">
                <a:solidFill>
                  <a:srgbClr val="166534"/>
                </a:solidFill>
                <a:latin typeface="Calibri"/>
              </a:rPr>
              <a:t>Listo</a:t>
            </a:r>
          </a:p>
        </p:txBody>
      </p:sp>
      <p:sp>
        <p:nvSpPr>
          <p:cNvPr id="20" name="Rounded Rectangle 19"/>
          <p:cNvSpPr/>
          <p:nvPr/>
        </p:nvSpPr>
        <p:spPr>
          <a:xfrm>
            <a:off x="548640" y="4690872"/>
            <a:ext cx="6766560" cy="64008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4764024"/>
            <a:ext cx="4023360" cy="274320"/>
          </a:xfrm>
          <a:prstGeom prst="rect">
            <a:avLst/>
          </a:prstGeom>
          <a:noFill/>
        </p:spPr>
        <p:txBody>
          <a:bodyPr wrap="square" lIns="0" rIns="0" tIns="0" bIns="0" anchor="t">
            <a:spAutoFit/>
          </a:bodyPr>
          <a:lstStyle/>
          <a:p>
            <a:pPr algn="l">
              <a:lnSpc>
                <a:spcPct val="105000"/>
              </a:lnSpc>
              <a:spcAft>
                <a:spcPts val="0"/>
              </a:spcAft>
            </a:pPr>
            <a:r>
              <a:rPr sz="1500" b="1" i="0">
                <a:solidFill>
                  <a:srgbClr val="1E1B4B"/>
                </a:solidFill>
                <a:latin typeface="Calibri"/>
              </a:rPr>
              <a:t>Definition of Done</a:t>
            </a:r>
          </a:p>
        </p:txBody>
      </p:sp>
      <p:sp>
        <p:nvSpPr>
          <p:cNvPr id="22" name="TextBox 21"/>
          <p:cNvSpPr txBox="1"/>
          <p:nvPr/>
        </p:nvSpPr>
        <p:spPr>
          <a:xfrm>
            <a:off x="777240" y="5038344"/>
            <a:ext cx="4206240" cy="274320"/>
          </a:xfrm>
          <a:prstGeom prst="rect">
            <a:avLst/>
          </a:prstGeom>
          <a:noFill/>
        </p:spPr>
        <p:txBody>
          <a:bodyPr wrap="square" lIns="0" rIns="0" tIns="0" bIns="0" anchor="t">
            <a:spAutoFit/>
          </a:bodyPr>
          <a:lstStyle/>
          <a:p>
            <a:pPr algn="l">
              <a:lnSpc>
                <a:spcPct val="105000"/>
              </a:lnSpc>
              <a:spcAft>
                <a:spcPts val="0"/>
              </a:spcAft>
            </a:pPr>
            <a:r>
              <a:rPr sz="1100" b="0" i="0">
                <a:solidFill>
                  <a:srgbClr val="64748B"/>
                </a:solidFill>
                <a:latin typeface="Calibri"/>
              </a:rPr>
              <a:t>Cuándo un cambio está terminado</a:t>
            </a:r>
          </a:p>
        </p:txBody>
      </p:sp>
      <p:sp>
        <p:nvSpPr>
          <p:cNvPr id="23" name="Rounded Rectangle 22"/>
          <p:cNvSpPr/>
          <p:nvPr/>
        </p:nvSpPr>
        <p:spPr>
          <a:xfrm>
            <a:off x="5760720" y="4864608"/>
            <a:ext cx="1371600" cy="292608"/>
          </a:xfrm>
          <a:prstGeom prst="roundRect">
            <a:avLst>
              <a:gd name="adj" fmla="val 50000"/>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100" b="1">
                <a:solidFill>
                  <a:srgbClr val="166534"/>
                </a:solidFill>
                <a:latin typeface="Calibri"/>
              </a:rPr>
              <a:t>Listo</a:t>
            </a:r>
          </a:p>
        </p:txBody>
      </p:sp>
      <p:sp>
        <p:nvSpPr>
          <p:cNvPr id="24" name="Rounded Rectangle 23"/>
          <p:cNvSpPr/>
          <p:nvPr/>
        </p:nvSpPr>
        <p:spPr>
          <a:xfrm>
            <a:off x="548640" y="5440679"/>
            <a:ext cx="6766560" cy="64008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513831"/>
            <a:ext cx="4023360" cy="274320"/>
          </a:xfrm>
          <a:prstGeom prst="rect">
            <a:avLst/>
          </a:prstGeom>
          <a:noFill/>
        </p:spPr>
        <p:txBody>
          <a:bodyPr wrap="square" lIns="0" rIns="0" tIns="0" bIns="0" anchor="t">
            <a:spAutoFit/>
          </a:bodyPr>
          <a:lstStyle/>
          <a:p>
            <a:pPr algn="l">
              <a:lnSpc>
                <a:spcPct val="105000"/>
              </a:lnSpc>
              <a:spcAft>
                <a:spcPts val="0"/>
              </a:spcAft>
            </a:pPr>
            <a:r>
              <a:rPr sz="1500" b="1" i="0">
                <a:solidFill>
                  <a:srgbClr val="1E1B4B"/>
                </a:solidFill>
                <a:latin typeface="Calibri"/>
              </a:rPr>
              <a:t>Retrospectivas</a:t>
            </a:r>
          </a:p>
        </p:txBody>
      </p:sp>
      <p:sp>
        <p:nvSpPr>
          <p:cNvPr id="26" name="TextBox 25"/>
          <p:cNvSpPr txBox="1"/>
          <p:nvPr/>
        </p:nvSpPr>
        <p:spPr>
          <a:xfrm>
            <a:off x="777240" y="5788151"/>
            <a:ext cx="4206240" cy="274320"/>
          </a:xfrm>
          <a:prstGeom prst="rect">
            <a:avLst/>
          </a:prstGeom>
          <a:noFill/>
        </p:spPr>
        <p:txBody>
          <a:bodyPr wrap="square" lIns="0" rIns="0" tIns="0" bIns="0" anchor="t">
            <a:spAutoFit/>
          </a:bodyPr>
          <a:lstStyle/>
          <a:p>
            <a:pPr algn="l">
              <a:lnSpc>
                <a:spcPct val="105000"/>
              </a:lnSpc>
              <a:spcAft>
                <a:spcPts val="0"/>
              </a:spcAft>
            </a:pPr>
            <a:r>
              <a:rPr sz="1100" b="0" i="0">
                <a:solidFill>
                  <a:srgbClr val="64748B"/>
                </a:solidFill>
                <a:latin typeface="Calibri"/>
              </a:rPr>
              <a:t>Iteraciones 2 a 4; falta cerrar la 5</a:t>
            </a:r>
          </a:p>
        </p:txBody>
      </p:sp>
      <p:sp>
        <p:nvSpPr>
          <p:cNvPr id="27" name="Rounded Rectangle 26"/>
          <p:cNvSpPr/>
          <p:nvPr/>
        </p:nvSpPr>
        <p:spPr>
          <a:xfrm>
            <a:off x="5760720" y="5614416"/>
            <a:ext cx="1371600" cy="292608"/>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100" b="1">
                <a:solidFill>
                  <a:srgbClr val="D97706"/>
                </a:solidFill>
                <a:latin typeface="Calibri"/>
              </a:rPr>
              <a:t>Falta el cierre</a:t>
            </a:r>
          </a:p>
        </p:txBody>
      </p:sp>
      <p:sp>
        <p:nvSpPr>
          <p:cNvPr id="28" name="Rounded Rectangle 27"/>
          <p:cNvSpPr/>
          <p:nvPr/>
        </p:nvSpPr>
        <p:spPr>
          <a:xfrm>
            <a:off x="7680960" y="1691640"/>
            <a:ext cx="3959352" cy="2926080"/>
          </a:xfrm>
          <a:prstGeom prst="roundRect">
            <a:avLst>
              <a:gd name="adj" fmla="val 6000"/>
            </a:avLst>
          </a:prstGeom>
          <a:solidFill>
            <a:srgbClr val="FFFBEB"/>
          </a:solidFill>
          <a:ln w="12700">
            <a:solidFill>
              <a:srgbClr val="FDE6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55279" y="1874519"/>
            <a:ext cx="3474720" cy="365760"/>
          </a:xfrm>
          <a:prstGeom prst="rect">
            <a:avLst/>
          </a:prstGeom>
          <a:noFill/>
        </p:spPr>
        <p:txBody>
          <a:bodyPr wrap="square" lIns="0" rIns="0" tIns="0" bIns="0" anchor="t">
            <a:spAutoFit/>
          </a:bodyPr>
          <a:lstStyle/>
          <a:p>
            <a:pPr algn="l">
              <a:lnSpc>
                <a:spcPct val="105000"/>
              </a:lnSpc>
              <a:spcAft>
                <a:spcPts val="0"/>
              </a:spcAft>
            </a:pPr>
            <a:r>
              <a:rPr sz="1700" b="1" i="0">
                <a:solidFill>
                  <a:srgbClr val="D97706"/>
                </a:solidFill>
                <a:latin typeface="Calibri"/>
              </a:rPr>
              <a:t>Lo que falta</a:t>
            </a:r>
          </a:p>
        </p:txBody>
      </p:sp>
      <p:sp>
        <p:nvSpPr>
          <p:cNvPr id="30" name="Oval 29"/>
          <p:cNvSpPr/>
          <p:nvPr/>
        </p:nvSpPr>
        <p:spPr>
          <a:xfrm>
            <a:off x="7955279" y="2450592"/>
            <a:ext cx="201168" cy="201168"/>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
            </a:r>
          </a:p>
        </p:txBody>
      </p:sp>
      <p:sp>
        <p:nvSpPr>
          <p:cNvPr id="31" name="TextBox 30"/>
          <p:cNvSpPr txBox="1"/>
          <p:nvPr/>
        </p:nvSpPr>
        <p:spPr>
          <a:xfrm>
            <a:off x="8321040" y="2395728"/>
            <a:ext cx="3108960" cy="640080"/>
          </a:xfrm>
          <a:prstGeom prst="rect">
            <a:avLst/>
          </a:prstGeom>
          <a:noFill/>
        </p:spPr>
        <p:txBody>
          <a:bodyPr wrap="square" lIns="0" rIns="0" tIns="0" bIns="0" anchor="t">
            <a:spAutoFit/>
          </a:bodyPr>
          <a:lstStyle/>
          <a:p>
            <a:pPr algn="l">
              <a:lnSpc>
                <a:spcPct val="105000"/>
              </a:lnSpc>
              <a:spcAft>
                <a:spcPts val="0"/>
              </a:spcAft>
            </a:pPr>
            <a:r>
              <a:rPr sz="1250" b="0" i="0">
                <a:solidFill>
                  <a:srgbClr val="1E293B"/>
                </a:solidFill>
                <a:latin typeface="Calibri"/>
              </a:rPr>
              <a:t>Cerrar la retrospectiva de la iteración 5 (06-10)</a:t>
            </a:r>
          </a:p>
        </p:txBody>
      </p:sp>
      <p:sp>
        <p:nvSpPr>
          <p:cNvPr id="32" name="Oval 31"/>
          <p:cNvSpPr/>
          <p:nvPr/>
        </p:nvSpPr>
        <p:spPr>
          <a:xfrm>
            <a:off x="7955279" y="3136392"/>
            <a:ext cx="201168" cy="201168"/>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
            </a:r>
          </a:p>
        </p:txBody>
      </p:sp>
      <p:sp>
        <p:nvSpPr>
          <p:cNvPr id="33" name="TextBox 32"/>
          <p:cNvSpPr txBox="1"/>
          <p:nvPr/>
        </p:nvSpPr>
        <p:spPr>
          <a:xfrm>
            <a:off x="8321040" y="3081528"/>
            <a:ext cx="3108960" cy="640080"/>
          </a:xfrm>
          <a:prstGeom prst="rect">
            <a:avLst/>
          </a:prstGeom>
          <a:noFill/>
        </p:spPr>
        <p:txBody>
          <a:bodyPr wrap="square" lIns="0" rIns="0" tIns="0" bIns="0" anchor="t">
            <a:spAutoFit/>
          </a:bodyPr>
          <a:lstStyle/>
          <a:p>
            <a:pPr algn="l">
              <a:lnSpc>
                <a:spcPct val="105000"/>
              </a:lnSpc>
              <a:spcAft>
                <a:spcPts val="0"/>
              </a:spcAft>
            </a:pPr>
            <a:r>
              <a:rPr sz="1250" b="0" i="0">
                <a:solidFill>
                  <a:srgbClr val="1E293B"/>
                </a:solidFill>
                <a:latin typeface="Calibri"/>
              </a:rPr>
              <a:t>Firmar el acta de inicio</a:t>
            </a:r>
          </a:p>
        </p:txBody>
      </p:sp>
      <p:sp>
        <p:nvSpPr>
          <p:cNvPr id="34" name="Oval 33"/>
          <p:cNvSpPr/>
          <p:nvPr/>
        </p:nvSpPr>
        <p:spPr>
          <a:xfrm>
            <a:off x="7955279" y="3822191"/>
            <a:ext cx="201168" cy="201168"/>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
            </a:r>
          </a:p>
        </p:txBody>
      </p:sp>
      <p:sp>
        <p:nvSpPr>
          <p:cNvPr id="35" name="TextBox 34"/>
          <p:cNvSpPr txBox="1"/>
          <p:nvPr/>
        </p:nvSpPr>
        <p:spPr>
          <a:xfrm>
            <a:off x="8321040" y="3767328"/>
            <a:ext cx="3108960" cy="640080"/>
          </a:xfrm>
          <a:prstGeom prst="rect">
            <a:avLst/>
          </a:prstGeom>
          <a:noFill/>
        </p:spPr>
        <p:txBody>
          <a:bodyPr wrap="square" lIns="0" rIns="0" tIns="0" bIns="0" anchor="t">
            <a:spAutoFit/>
          </a:bodyPr>
          <a:lstStyle/>
          <a:p>
            <a:pPr algn="l">
              <a:lnSpc>
                <a:spcPct val="105000"/>
              </a:lnSpc>
              <a:spcAft>
                <a:spcPts val="0"/>
              </a:spcAft>
            </a:pPr>
            <a:r>
              <a:rPr sz="1250" b="0" i="0">
                <a:solidFill>
                  <a:srgbClr val="1E293B"/>
                </a:solidFill>
                <a:latin typeface="Calibri"/>
              </a:rPr>
              <a:t>Pasar a Word los documentos técnicos, hoy en Markdown</a:t>
            </a:r>
          </a:p>
        </p:txBody>
      </p:sp>
      <p:sp>
        <p:nvSpPr>
          <p:cNvPr id="36" name="Rounded Rectangle 35"/>
          <p:cNvSpPr/>
          <p:nvPr/>
        </p:nvSpPr>
        <p:spPr>
          <a:xfrm>
            <a:off x="7680960" y="4846320"/>
            <a:ext cx="3959352" cy="1005840"/>
          </a:xfrm>
          <a:prstGeom prst="roundRect">
            <a:avLst>
              <a:gd name="adj" fmla="val 6000"/>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955279" y="4846320"/>
            <a:ext cx="3474720" cy="1005840"/>
          </a:xfrm>
          <a:prstGeom prst="rect">
            <a:avLst/>
          </a:prstGeom>
          <a:noFill/>
        </p:spPr>
        <p:txBody>
          <a:bodyPr wrap="square" lIns="0" rIns="0" tIns="0" bIns="0" anchor="ctr">
            <a:spAutoFit/>
          </a:bodyPr>
          <a:lstStyle/>
          <a:p>
            <a:pPr algn="l">
              <a:lnSpc>
                <a:spcPct val="105000"/>
              </a:lnSpc>
              <a:spcAft>
                <a:spcPts val="0"/>
              </a:spcAft>
            </a:pPr>
            <a:r>
              <a:rPr sz="1250" b="1" i="0">
                <a:solidFill>
                  <a:srgbClr val="FFFFFF"/>
                </a:solidFill>
                <a:latin typeface="Calibri"/>
              </a:rPr>
              <a:t>Además: </a:t>
            </a:r>
            <a:r>
              <a:rPr sz="1250" b="0" i="0">
                <a:solidFill>
                  <a:srgbClr val="C7D2FE"/>
                </a:solidFill>
                <a:latin typeface="Calibri"/>
              </a:rPr>
              <a:t>el acta de inicio, que no estaba en la lista y da origen al proyecto.</a:t>
            </a:r>
          </a:p>
        </p:txBody>
      </p:sp>
      <p:sp>
        <p:nvSpPr>
          <p:cNvPr id="38" name="TextBox 37"/>
          <p:cNvSpPr txBox="1"/>
          <p:nvPr/>
        </p:nvSpPr>
        <p:spPr>
          <a:xfrm>
            <a:off x="7680960" y="5989320"/>
            <a:ext cx="3959352" cy="274320"/>
          </a:xfrm>
          <a:prstGeom prst="rect">
            <a:avLst/>
          </a:prstGeom>
          <a:noFill/>
        </p:spPr>
        <p:txBody>
          <a:bodyPr wrap="square" lIns="0" rIns="0" tIns="0" bIns="0" anchor="t">
            <a:spAutoFit/>
          </a:bodyPr>
          <a:lstStyle/>
          <a:p>
            <a:pPr algn="l">
              <a:lnSpc>
                <a:spcPct val="105000"/>
              </a:lnSpc>
              <a:spcAft>
                <a:spcPts val="0"/>
              </a:spcAft>
            </a:pPr>
            <a:r>
              <a:rPr sz="1100" b="0" i="0">
                <a:solidFill>
                  <a:srgbClr val="64748B"/>
                </a:solidFill>
                <a:latin typeface="Calibri"/>
              </a:rPr>
              <a:t>Todo está en GitHub: github.com/YairCosta/CAPSTONE_003D</a:t>
            </a:r>
          </a:p>
        </p:txBody>
      </p:sp>
      <p:sp>
        <p:nvSpPr>
          <p:cNvPr id="39" name="TextBox 38"/>
          <p:cNvSpPr txBox="1"/>
          <p:nvPr/>
        </p:nvSpPr>
        <p:spPr>
          <a:xfrm>
            <a:off x="548640" y="6446520"/>
            <a:ext cx="8229600" cy="274320"/>
          </a:xfrm>
          <a:prstGeom prst="rect">
            <a:avLst/>
          </a:prstGeom>
          <a:noFill/>
        </p:spPr>
        <p:txBody>
          <a:bodyPr wrap="square" lIns="0" rIns="0" tIns="0" bIns="0" anchor="t">
            <a:spAutoFit/>
          </a:bodyPr>
          <a:lstStyle/>
          <a:p>
            <a:pPr algn="l">
              <a:lnSpc>
                <a:spcPct val="105000"/>
              </a:lnSpc>
              <a:spcAft>
                <a:spcPts val="0"/>
              </a:spcAft>
            </a:pPr>
            <a:r>
              <a:rPr sz="1000" b="0" i="0">
                <a:solidFill>
                  <a:srgbClr val="64748B"/>
                </a:solidFill>
                <a:latin typeface="Calibri"/>
              </a:rPr>
              <a:t>Revela · Avance y roadmap · Yair Hamir Costa Pérez</a:t>
            </a:r>
          </a:p>
        </p:txBody>
      </p:sp>
      <p:sp>
        <p:nvSpPr>
          <p:cNvPr id="40" name="TextBox 39"/>
          <p:cNvSpPr txBox="1"/>
          <p:nvPr/>
        </p:nvSpPr>
        <p:spPr>
          <a:xfrm>
            <a:off x="10698480" y="6446520"/>
            <a:ext cx="941832" cy="274320"/>
          </a:xfrm>
          <a:prstGeom prst="rect">
            <a:avLst/>
          </a:prstGeom>
          <a:noFill/>
        </p:spPr>
        <p:txBody>
          <a:bodyPr wrap="square" lIns="0" rIns="0" tIns="0" bIns="0" anchor="t">
            <a:spAutoFit/>
          </a:bodyPr>
          <a:lstStyle/>
          <a:p>
            <a:pPr algn="r">
              <a:lnSpc>
                <a:spcPct val="105000"/>
              </a:lnSpc>
              <a:spcAft>
                <a:spcPts val="0"/>
              </a:spcAft>
            </a:pPr>
            <a:r>
              <a:rPr sz="1000" b="0" i="0">
                <a:solidFill>
                  <a:srgbClr val="64748B"/>
                </a:solidFill>
                <a:latin typeface="Calibri"/>
              </a:rPr>
              <a:t>2 / 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0972800" cy="320040"/>
          </a:xfrm>
          <a:prstGeom prst="rect">
            <a:avLst/>
          </a:prstGeom>
          <a:noFill/>
        </p:spPr>
        <p:txBody>
          <a:bodyPr wrap="square" lIns="0" rIns="0" tIns="0" bIns="0" anchor="t">
            <a:spAutoFit/>
          </a:bodyPr>
          <a:lstStyle/>
          <a:p>
            <a:pPr algn="l">
              <a:lnSpc>
                <a:spcPct val="105000"/>
              </a:lnSpc>
              <a:spcAft>
                <a:spcPts val="0"/>
              </a:spcAft>
            </a:pPr>
            <a:r>
              <a:rPr sz="1400" b="1" i="0">
                <a:solidFill>
                  <a:srgbClr val="E11D48"/>
                </a:solidFill>
                <a:latin typeface="Calibri"/>
              </a:rPr>
              <a:t>AVANCE DEL APLICATIVO</a:t>
            </a:r>
          </a:p>
        </p:txBody>
      </p:sp>
      <p:sp>
        <p:nvSpPr>
          <p:cNvPr id="3" name="TextBox 2"/>
          <p:cNvSpPr txBox="1"/>
          <p:nvPr/>
        </p:nvSpPr>
        <p:spPr>
          <a:xfrm>
            <a:off x="548640" y="713232"/>
            <a:ext cx="11064240" cy="731520"/>
          </a:xfrm>
          <a:prstGeom prst="rect">
            <a:avLst/>
          </a:prstGeom>
          <a:noFill/>
        </p:spPr>
        <p:txBody>
          <a:bodyPr wrap="square" lIns="0" rIns="0" tIns="0" bIns="0" anchor="t">
            <a:spAutoFit/>
          </a:bodyPr>
          <a:lstStyle/>
          <a:p>
            <a:pPr algn="l">
              <a:lnSpc>
                <a:spcPct val="105000"/>
              </a:lnSpc>
              <a:spcAft>
                <a:spcPts val="0"/>
              </a:spcAft>
            </a:pPr>
            <a:r>
              <a:rPr sz="3000" b="1" i="0">
                <a:solidFill>
                  <a:srgbClr val="1E1B4B"/>
                </a:solidFill>
                <a:latin typeface="Calibri"/>
              </a:rPr>
              <a:t>Lo que ya está funcionando</a:t>
            </a:r>
          </a:p>
        </p:txBody>
      </p:sp>
      <p:sp>
        <p:nvSpPr>
          <p:cNvPr id="4" name="Rounded Rectangle 3"/>
          <p:cNvSpPr/>
          <p:nvPr/>
        </p:nvSpPr>
        <p:spPr>
          <a:xfrm>
            <a:off x="548640" y="1691640"/>
            <a:ext cx="2560320" cy="132588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874520"/>
            <a:ext cx="274320" cy="274320"/>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a:t>
            </a:r>
          </a:p>
        </p:txBody>
      </p:sp>
      <p:sp>
        <p:nvSpPr>
          <p:cNvPr id="6" name="TextBox 5"/>
          <p:cNvSpPr txBox="1"/>
          <p:nvPr/>
        </p:nvSpPr>
        <p:spPr>
          <a:xfrm>
            <a:off x="1143000" y="1874520"/>
            <a:ext cx="1828799" cy="320040"/>
          </a:xfrm>
          <a:prstGeom prst="rect">
            <a:avLst/>
          </a:prstGeom>
          <a:noFill/>
        </p:spPr>
        <p:txBody>
          <a:bodyPr wrap="square" lIns="0" rIns="0" tIns="0" bIns="0" anchor="t">
            <a:spAutoFit/>
          </a:bodyPr>
          <a:lstStyle/>
          <a:p>
            <a:pPr algn="l">
              <a:lnSpc>
                <a:spcPct val="105000"/>
              </a:lnSpc>
              <a:spcAft>
                <a:spcPts val="0"/>
              </a:spcAft>
            </a:pPr>
            <a:r>
              <a:rPr sz="1500" b="1" i="0">
                <a:solidFill>
                  <a:srgbClr val="1E1B4B"/>
                </a:solidFill>
                <a:latin typeface="Calibri"/>
              </a:rPr>
              <a:t>Captura de leads</a:t>
            </a:r>
          </a:p>
        </p:txBody>
      </p:sp>
      <p:sp>
        <p:nvSpPr>
          <p:cNvPr id="7" name="TextBox 6"/>
          <p:cNvSpPr txBox="1"/>
          <p:nvPr/>
        </p:nvSpPr>
        <p:spPr>
          <a:xfrm>
            <a:off x="777240" y="2377440"/>
            <a:ext cx="2103120" cy="594360"/>
          </a:xfrm>
          <a:prstGeom prst="rect">
            <a:avLst/>
          </a:prstGeom>
          <a:noFill/>
        </p:spPr>
        <p:txBody>
          <a:bodyPr wrap="square" lIns="0" rIns="0" tIns="0" bIns="0" anchor="t">
            <a:spAutoFit/>
          </a:bodyPr>
          <a:lstStyle/>
          <a:p>
            <a:pPr algn="l">
              <a:lnSpc>
                <a:spcPct val="105000"/>
              </a:lnSpc>
              <a:spcAft>
                <a:spcPts val="0"/>
              </a:spcAft>
            </a:pPr>
            <a:r>
              <a:rPr sz="1200" b="0" i="0">
                <a:solidFill>
                  <a:srgbClr val="64748B"/>
                </a:solidFill>
                <a:latin typeface="Calibri"/>
              </a:rPr>
              <a:t>Con origen y base legal del dato</a:t>
            </a:r>
          </a:p>
        </p:txBody>
      </p:sp>
      <p:sp>
        <p:nvSpPr>
          <p:cNvPr id="8" name="Rounded Rectangle 7"/>
          <p:cNvSpPr/>
          <p:nvPr/>
        </p:nvSpPr>
        <p:spPr>
          <a:xfrm>
            <a:off x="3392424" y="1691640"/>
            <a:ext cx="2560320" cy="132588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575304" y="1874520"/>
            <a:ext cx="274320" cy="274320"/>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a:t>
            </a:r>
          </a:p>
        </p:txBody>
      </p:sp>
      <p:sp>
        <p:nvSpPr>
          <p:cNvPr id="10" name="TextBox 9"/>
          <p:cNvSpPr txBox="1"/>
          <p:nvPr/>
        </p:nvSpPr>
        <p:spPr>
          <a:xfrm>
            <a:off x="3986784" y="1874520"/>
            <a:ext cx="1828799" cy="320040"/>
          </a:xfrm>
          <a:prstGeom prst="rect">
            <a:avLst/>
          </a:prstGeom>
          <a:noFill/>
        </p:spPr>
        <p:txBody>
          <a:bodyPr wrap="square" lIns="0" rIns="0" tIns="0" bIns="0" anchor="t">
            <a:spAutoFit/>
          </a:bodyPr>
          <a:lstStyle/>
          <a:p>
            <a:pPr algn="l">
              <a:lnSpc>
                <a:spcPct val="105000"/>
              </a:lnSpc>
              <a:spcAft>
                <a:spcPts val="0"/>
              </a:spcAft>
            </a:pPr>
            <a:r>
              <a:rPr sz="1500" b="1" i="0">
                <a:solidFill>
                  <a:srgbClr val="1E1B4B"/>
                </a:solidFill>
                <a:latin typeface="Calibri"/>
              </a:rPr>
              <a:t>Pipeline</a:t>
            </a:r>
          </a:p>
        </p:txBody>
      </p:sp>
      <p:sp>
        <p:nvSpPr>
          <p:cNvPr id="11" name="TextBox 10"/>
          <p:cNvSpPr txBox="1"/>
          <p:nvPr/>
        </p:nvSpPr>
        <p:spPr>
          <a:xfrm>
            <a:off x="3621024" y="2377440"/>
            <a:ext cx="2103120" cy="594360"/>
          </a:xfrm>
          <a:prstGeom prst="rect">
            <a:avLst/>
          </a:prstGeom>
          <a:noFill/>
        </p:spPr>
        <p:txBody>
          <a:bodyPr wrap="square" lIns="0" rIns="0" tIns="0" bIns="0" anchor="t">
            <a:spAutoFit/>
          </a:bodyPr>
          <a:lstStyle/>
          <a:p>
            <a:pPr algn="l">
              <a:lnSpc>
                <a:spcPct val="105000"/>
              </a:lnSpc>
              <a:spcAft>
                <a:spcPts val="0"/>
              </a:spcAft>
            </a:pPr>
            <a:r>
              <a:rPr sz="1200" b="0" i="0">
                <a:solidFill>
                  <a:srgbClr val="64748B"/>
                </a:solidFill>
                <a:latin typeface="Calibri"/>
              </a:rPr>
              <a:t>7 etapas, solo se avanza</a:t>
            </a:r>
          </a:p>
        </p:txBody>
      </p:sp>
      <p:sp>
        <p:nvSpPr>
          <p:cNvPr id="12" name="Rounded Rectangle 11"/>
          <p:cNvSpPr/>
          <p:nvPr/>
        </p:nvSpPr>
        <p:spPr>
          <a:xfrm>
            <a:off x="6236207" y="1691640"/>
            <a:ext cx="2560320" cy="132588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19088" y="1874520"/>
            <a:ext cx="274320" cy="274320"/>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a:t>
            </a:r>
          </a:p>
        </p:txBody>
      </p:sp>
      <p:sp>
        <p:nvSpPr>
          <p:cNvPr id="14" name="TextBox 13"/>
          <p:cNvSpPr txBox="1"/>
          <p:nvPr/>
        </p:nvSpPr>
        <p:spPr>
          <a:xfrm>
            <a:off x="6830568" y="1874520"/>
            <a:ext cx="1828799" cy="320040"/>
          </a:xfrm>
          <a:prstGeom prst="rect">
            <a:avLst/>
          </a:prstGeom>
          <a:noFill/>
        </p:spPr>
        <p:txBody>
          <a:bodyPr wrap="square" lIns="0" rIns="0" tIns="0" bIns="0" anchor="t">
            <a:spAutoFit/>
          </a:bodyPr>
          <a:lstStyle/>
          <a:p>
            <a:pPr algn="l">
              <a:lnSpc>
                <a:spcPct val="105000"/>
              </a:lnSpc>
              <a:spcAft>
                <a:spcPts val="0"/>
              </a:spcAft>
            </a:pPr>
            <a:r>
              <a:rPr sz="1500" b="1" i="0">
                <a:solidFill>
                  <a:srgbClr val="1E1B4B"/>
                </a:solidFill>
                <a:latin typeface="Calibri"/>
              </a:rPr>
              <a:t>Mapa por zona</a:t>
            </a:r>
          </a:p>
        </p:txBody>
      </p:sp>
      <p:sp>
        <p:nvSpPr>
          <p:cNvPr id="15" name="TextBox 14"/>
          <p:cNvSpPr txBox="1"/>
          <p:nvPr/>
        </p:nvSpPr>
        <p:spPr>
          <a:xfrm>
            <a:off x="6464807" y="2377440"/>
            <a:ext cx="2103120" cy="594360"/>
          </a:xfrm>
          <a:prstGeom prst="rect">
            <a:avLst/>
          </a:prstGeom>
          <a:noFill/>
        </p:spPr>
        <p:txBody>
          <a:bodyPr wrap="square" lIns="0" rIns="0" tIns="0" bIns="0" anchor="t">
            <a:spAutoFit/>
          </a:bodyPr>
          <a:lstStyle/>
          <a:p>
            <a:pPr algn="l">
              <a:lnSpc>
                <a:spcPct val="105000"/>
              </a:lnSpc>
              <a:spcAft>
                <a:spcPts val="0"/>
              </a:spcAft>
            </a:pPr>
            <a:r>
              <a:rPr sz="1200" b="0" i="0">
                <a:solidFill>
                  <a:srgbClr val="64748B"/>
                </a:solidFill>
                <a:latin typeface="Calibri"/>
              </a:rPr>
              <a:t>19 países, sin ubicación exacta</a:t>
            </a:r>
          </a:p>
        </p:txBody>
      </p:sp>
      <p:sp>
        <p:nvSpPr>
          <p:cNvPr id="16" name="Rounded Rectangle 15"/>
          <p:cNvSpPr/>
          <p:nvPr/>
        </p:nvSpPr>
        <p:spPr>
          <a:xfrm>
            <a:off x="9079992" y="1691640"/>
            <a:ext cx="2560320" cy="132588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262872" y="1874520"/>
            <a:ext cx="274320" cy="274320"/>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a:t>
            </a:r>
          </a:p>
        </p:txBody>
      </p:sp>
      <p:sp>
        <p:nvSpPr>
          <p:cNvPr id="18" name="TextBox 17"/>
          <p:cNvSpPr txBox="1"/>
          <p:nvPr/>
        </p:nvSpPr>
        <p:spPr>
          <a:xfrm>
            <a:off x="9674352" y="1874520"/>
            <a:ext cx="1828799" cy="320040"/>
          </a:xfrm>
          <a:prstGeom prst="rect">
            <a:avLst/>
          </a:prstGeom>
          <a:noFill/>
        </p:spPr>
        <p:txBody>
          <a:bodyPr wrap="square" lIns="0" rIns="0" tIns="0" bIns="0" anchor="t">
            <a:spAutoFit/>
          </a:bodyPr>
          <a:lstStyle/>
          <a:p>
            <a:pPr algn="l">
              <a:lnSpc>
                <a:spcPct val="105000"/>
              </a:lnSpc>
              <a:spcAft>
                <a:spcPts val="0"/>
              </a:spcAft>
            </a:pPr>
            <a:r>
              <a:rPr sz="1500" b="1" i="0">
                <a:solidFill>
                  <a:srgbClr val="1E1B4B"/>
                </a:solidFill>
                <a:latin typeface="Calibri"/>
              </a:rPr>
              <a:t>Catálogo y monedas</a:t>
            </a:r>
          </a:p>
        </p:txBody>
      </p:sp>
      <p:sp>
        <p:nvSpPr>
          <p:cNvPr id="19" name="TextBox 18"/>
          <p:cNvSpPr txBox="1"/>
          <p:nvPr/>
        </p:nvSpPr>
        <p:spPr>
          <a:xfrm>
            <a:off x="9308592" y="2377440"/>
            <a:ext cx="2103120" cy="594360"/>
          </a:xfrm>
          <a:prstGeom prst="rect">
            <a:avLst/>
          </a:prstGeom>
          <a:noFill/>
        </p:spPr>
        <p:txBody>
          <a:bodyPr wrap="square" lIns="0" rIns="0" tIns="0" bIns="0" anchor="t">
            <a:spAutoFit/>
          </a:bodyPr>
          <a:lstStyle/>
          <a:p>
            <a:pPr algn="l">
              <a:lnSpc>
                <a:spcPct val="105000"/>
              </a:lnSpc>
              <a:spcAft>
                <a:spcPts val="0"/>
              </a:spcAft>
            </a:pPr>
            <a:r>
              <a:rPr sz="1200" b="0" i="0">
                <a:solidFill>
                  <a:srgbClr val="64748B"/>
                </a:solidFill>
                <a:latin typeface="Calibri"/>
              </a:rPr>
              <a:t>Precios por país, sin convertir lo guardado</a:t>
            </a:r>
          </a:p>
        </p:txBody>
      </p:sp>
      <p:sp>
        <p:nvSpPr>
          <p:cNvPr id="20" name="Rounded Rectangle 19"/>
          <p:cNvSpPr/>
          <p:nvPr/>
        </p:nvSpPr>
        <p:spPr>
          <a:xfrm>
            <a:off x="548640" y="3246120"/>
            <a:ext cx="2560320" cy="132588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31520" y="3429000"/>
            <a:ext cx="274320" cy="274320"/>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a:t>
            </a:r>
          </a:p>
        </p:txBody>
      </p:sp>
      <p:sp>
        <p:nvSpPr>
          <p:cNvPr id="22" name="TextBox 21"/>
          <p:cNvSpPr txBox="1"/>
          <p:nvPr/>
        </p:nvSpPr>
        <p:spPr>
          <a:xfrm>
            <a:off x="1143000" y="3429000"/>
            <a:ext cx="1828799" cy="320040"/>
          </a:xfrm>
          <a:prstGeom prst="rect">
            <a:avLst/>
          </a:prstGeom>
          <a:noFill/>
        </p:spPr>
        <p:txBody>
          <a:bodyPr wrap="square" lIns="0" rIns="0" tIns="0" bIns="0" anchor="t">
            <a:spAutoFit/>
          </a:bodyPr>
          <a:lstStyle/>
          <a:p>
            <a:pPr algn="l">
              <a:lnSpc>
                <a:spcPct val="105000"/>
              </a:lnSpc>
              <a:spcAft>
                <a:spcPts val="0"/>
              </a:spcAft>
            </a:pPr>
            <a:r>
              <a:rPr sz="1500" b="1" i="0">
                <a:solidFill>
                  <a:srgbClr val="1E1B4B"/>
                </a:solidFill>
                <a:latin typeface="Calibri"/>
              </a:rPr>
              <a:t>Usuarios y roles</a:t>
            </a:r>
          </a:p>
        </p:txBody>
      </p:sp>
      <p:sp>
        <p:nvSpPr>
          <p:cNvPr id="23" name="TextBox 22"/>
          <p:cNvSpPr txBox="1"/>
          <p:nvPr/>
        </p:nvSpPr>
        <p:spPr>
          <a:xfrm>
            <a:off x="777240" y="3931920"/>
            <a:ext cx="2103120" cy="594360"/>
          </a:xfrm>
          <a:prstGeom prst="rect">
            <a:avLst/>
          </a:prstGeom>
          <a:noFill/>
        </p:spPr>
        <p:txBody>
          <a:bodyPr wrap="square" lIns="0" rIns="0" tIns="0" bIns="0" anchor="t">
            <a:spAutoFit/>
          </a:bodyPr>
          <a:lstStyle/>
          <a:p>
            <a:pPr algn="l">
              <a:lnSpc>
                <a:spcPct val="105000"/>
              </a:lnSpc>
              <a:spcAft>
                <a:spcPts val="0"/>
              </a:spcAft>
            </a:pPr>
            <a:r>
              <a:rPr sz="1200" b="0" i="0">
                <a:solidFill>
                  <a:srgbClr val="64748B"/>
                </a:solidFill>
                <a:latin typeface="Calibri"/>
              </a:rPr>
              <a:t>Vendedor, gerente y administrador</a:t>
            </a:r>
          </a:p>
        </p:txBody>
      </p:sp>
      <p:sp>
        <p:nvSpPr>
          <p:cNvPr id="24" name="Rounded Rectangle 23"/>
          <p:cNvSpPr/>
          <p:nvPr/>
        </p:nvSpPr>
        <p:spPr>
          <a:xfrm>
            <a:off x="3392424" y="3246120"/>
            <a:ext cx="2560320" cy="132588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575304" y="3429000"/>
            <a:ext cx="274320" cy="274320"/>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a:t>
            </a:r>
          </a:p>
        </p:txBody>
      </p:sp>
      <p:sp>
        <p:nvSpPr>
          <p:cNvPr id="26" name="TextBox 25"/>
          <p:cNvSpPr txBox="1"/>
          <p:nvPr/>
        </p:nvSpPr>
        <p:spPr>
          <a:xfrm>
            <a:off x="3986784" y="3429000"/>
            <a:ext cx="1828799" cy="320040"/>
          </a:xfrm>
          <a:prstGeom prst="rect">
            <a:avLst/>
          </a:prstGeom>
          <a:noFill/>
        </p:spPr>
        <p:txBody>
          <a:bodyPr wrap="square" lIns="0" rIns="0" tIns="0" bIns="0" anchor="t">
            <a:spAutoFit/>
          </a:bodyPr>
          <a:lstStyle/>
          <a:p>
            <a:pPr algn="l">
              <a:lnSpc>
                <a:spcPct val="105000"/>
              </a:lnSpc>
              <a:spcAft>
                <a:spcPts val="0"/>
              </a:spcAft>
            </a:pPr>
            <a:r>
              <a:rPr sz="1500" b="1" i="0">
                <a:solidFill>
                  <a:srgbClr val="1E1B4B"/>
                </a:solidFill>
                <a:latin typeface="Calibri"/>
              </a:rPr>
              <a:t>Auditoría</a:t>
            </a:r>
          </a:p>
        </p:txBody>
      </p:sp>
      <p:sp>
        <p:nvSpPr>
          <p:cNvPr id="27" name="TextBox 26"/>
          <p:cNvSpPr txBox="1"/>
          <p:nvPr/>
        </p:nvSpPr>
        <p:spPr>
          <a:xfrm>
            <a:off x="3621024" y="3931920"/>
            <a:ext cx="2103120" cy="594360"/>
          </a:xfrm>
          <a:prstGeom prst="rect">
            <a:avLst/>
          </a:prstGeom>
          <a:noFill/>
        </p:spPr>
        <p:txBody>
          <a:bodyPr wrap="square" lIns="0" rIns="0" tIns="0" bIns="0" anchor="t">
            <a:spAutoFit/>
          </a:bodyPr>
          <a:lstStyle/>
          <a:p>
            <a:pPr algn="l">
              <a:lnSpc>
                <a:spcPct val="105000"/>
              </a:lnSpc>
              <a:spcAft>
                <a:spcPts val="0"/>
              </a:spcAft>
            </a:pPr>
            <a:r>
              <a:rPr sz="1200" b="0" i="0">
                <a:solidFill>
                  <a:srgbClr val="64748B"/>
                </a:solidFill>
                <a:latin typeface="Calibri"/>
              </a:rPr>
              <a:t>Historial inalterable con reversión</a:t>
            </a:r>
          </a:p>
        </p:txBody>
      </p:sp>
      <p:sp>
        <p:nvSpPr>
          <p:cNvPr id="28" name="Rounded Rectangle 27"/>
          <p:cNvSpPr/>
          <p:nvPr/>
        </p:nvSpPr>
        <p:spPr>
          <a:xfrm>
            <a:off x="6236207" y="3246120"/>
            <a:ext cx="2560320" cy="132588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419088" y="3429000"/>
            <a:ext cx="274320" cy="274320"/>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a:t>
            </a:r>
          </a:p>
        </p:txBody>
      </p:sp>
      <p:sp>
        <p:nvSpPr>
          <p:cNvPr id="30" name="TextBox 29"/>
          <p:cNvSpPr txBox="1"/>
          <p:nvPr/>
        </p:nvSpPr>
        <p:spPr>
          <a:xfrm>
            <a:off x="6830568" y="3429000"/>
            <a:ext cx="1828799" cy="320040"/>
          </a:xfrm>
          <a:prstGeom prst="rect">
            <a:avLst/>
          </a:prstGeom>
          <a:noFill/>
        </p:spPr>
        <p:txBody>
          <a:bodyPr wrap="square" lIns="0" rIns="0" tIns="0" bIns="0" anchor="t">
            <a:spAutoFit/>
          </a:bodyPr>
          <a:lstStyle/>
          <a:p>
            <a:pPr algn="l">
              <a:lnSpc>
                <a:spcPct val="105000"/>
              </a:lnSpc>
              <a:spcAft>
                <a:spcPts val="0"/>
              </a:spcAft>
            </a:pPr>
            <a:r>
              <a:rPr sz="1500" b="1" i="0">
                <a:solidFill>
                  <a:srgbClr val="1E1B4B"/>
                </a:solidFill>
                <a:latin typeface="Calibri"/>
              </a:rPr>
              <a:t>Derechos del titular</a:t>
            </a:r>
          </a:p>
        </p:txBody>
      </p:sp>
      <p:sp>
        <p:nvSpPr>
          <p:cNvPr id="31" name="TextBox 30"/>
          <p:cNvSpPr txBox="1"/>
          <p:nvPr/>
        </p:nvSpPr>
        <p:spPr>
          <a:xfrm>
            <a:off x="6464807" y="3931920"/>
            <a:ext cx="2103120" cy="594360"/>
          </a:xfrm>
          <a:prstGeom prst="rect">
            <a:avLst/>
          </a:prstGeom>
          <a:noFill/>
        </p:spPr>
        <p:txBody>
          <a:bodyPr wrap="square" lIns="0" rIns="0" tIns="0" bIns="0" anchor="t">
            <a:spAutoFit/>
          </a:bodyPr>
          <a:lstStyle/>
          <a:p>
            <a:pPr algn="l">
              <a:lnSpc>
                <a:spcPct val="105000"/>
              </a:lnSpc>
              <a:spcAft>
                <a:spcPts val="0"/>
              </a:spcAft>
            </a:pPr>
            <a:r>
              <a:rPr sz="1200" b="0" i="0">
                <a:solidFill>
                  <a:srgbClr val="64748B"/>
                </a:solidFill>
                <a:latin typeface="Calibri"/>
              </a:rPr>
              <a:t>Solicitudes que bloquean el lead</a:t>
            </a:r>
          </a:p>
        </p:txBody>
      </p:sp>
      <p:sp>
        <p:nvSpPr>
          <p:cNvPr id="32" name="Rounded Rectangle 31"/>
          <p:cNvSpPr/>
          <p:nvPr/>
        </p:nvSpPr>
        <p:spPr>
          <a:xfrm>
            <a:off x="9079992" y="3246120"/>
            <a:ext cx="2560320" cy="132588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262872" y="3429000"/>
            <a:ext cx="274320" cy="274320"/>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a:t>
            </a:r>
          </a:p>
        </p:txBody>
      </p:sp>
      <p:sp>
        <p:nvSpPr>
          <p:cNvPr id="34" name="TextBox 33"/>
          <p:cNvSpPr txBox="1"/>
          <p:nvPr/>
        </p:nvSpPr>
        <p:spPr>
          <a:xfrm>
            <a:off x="9674352" y="3429000"/>
            <a:ext cx="1828799" cy="320040"/>
          </a:xfrm>
          <a:prstGeom prst="rect">
            <a:avLst/>
          </a:prstGeom>
          <a:noFill/>
        </p:spPr>
        <p:txBody>
          <a:bodyPr wrap="square" lIns="0" rIns="0" tIns="0" bIns="0" anchor="t">
            <a:spAutoFit/>
          </a:bodyPr>
          <a:lstStyle/>
          <a:p>
            <a:pPr algn="l">
              <a:lnSpc>
                <a:spcPct val="105000"/>
              </a:lnSpc>
              <a:spcAft>
                <a:spcPts val="0"/>
              </a:spcAft>
            </a:pPr>
            <a:r>
              <a:rPr sz="1500" b="1" i="0">
                <a:solidFill>
                  <a:srgbClr val="1E1B4B"/>
                </a:solidFill>
                <a:latin typeface="Calibri"/>
              </a:rPr>
              <a:t>Asistente de IA</a:t>
            </a:r>
          </a:p>
        </p:txBody>
      </p:sp>
      <p:sp>
        <p:nvSpPr>
          <p:cNvPr id="35" name="TextBox 34"/>
          <p:cNvSpPr txBox="1"/>
          <p:nvPr/>
        </p:nvSpPr>
        <p:spPr>
          <a:xfrm>
            <a:off x="9308592" y="3931920"/>
            <a:ext cx="2103120" cy="594360"/>
          </a:xfrm>
          <a:prstGeom prst="rect">
            <a:avLst/>
          </a:prstGeom>
          <a:noFill/>
        </p:spPr>
        <p:txBody>
          <a:bodyPr wrap="square" lIns="0" rIns="0" tIns="0" bIns="0" anchor="t">
            <a:spAutoFit/>
          </a:bodyPr>
          <a:lstStyle/>
          <a:p>
            <a:pPr algn="l">
              <a:lnSpc>
                <a:spcPct val="105000"/>
              </a:lnSpc>
              <a:spcAft>
                <a:spcPts val="0"/>
              </a:spcAft>
            </a:pPr>
            <a:r>
              <a:rPr sz="1200" b="0" i="0">
                <a:solidFill>
                  <a:srgbClr val="64748B"/>
                </a:solidFill>
                <a:latin typeface="Calibri"/>
              </a:rPr>
              <a:t>No borra nada; con presupuesto</a:t>
            </a:r>
          </a:p>
        </p:txBody>
      </p:sp>
      <p:sp>
        <p:nvSpPr>
          <p:cNvPr id="36" name="Rounded Rectangle 35"/>
          <p:cNvSpPr/>
          <p:nvPr/>
        </p:nvSpPr>
        <p:spPr>
          <a:xfrm>
            <a:off x="548640" y="4754880"/>
            <a:ext cx="2560320" cy="1325880"/>
          </a:xfrm>
          <a:prstGeom prst="roundRect">
            <a:avLst>
              <a:gd name="adj" fmla="val 6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77240" y="4846320"/>
            <a:ext cx="2194560" cy="640080"/>
          </a:xfrm>
          <a:prstGeom prst="rect">
            <a:avLst/>
          </a:prstGeom>
          <a:noFill/>
        </p:spPr>
        <p:txBody>
          <a:bodyPr wrap="square" lIns="0" rIns="0" tIns="0" bIns="0" anchor="t">
            <a:spAutoFit/>
          </a:bodyPr>
          <a:lstStyle/>
          <a:p>
            <a:pPr algn="l">
              <a:lnSpc>
                <a:spcPct val="105000"/>
              </a:lnSpc>
              <a:spcAft>
                <a:spcPts val="0"/>
              </a:spcAft>
            </a:pPr>
            <a:r>
              <a:rPr sz="2800" b="1" i="0">
                <a:solidFill>
                  <a:srgbClr val="3730A3"/>
                </a:solidFill>
                <a:latin typeface="Calibri"/>
              </a:rPr>
              <a:t>Publicada</a:t>
            </a:r>
          </a:p>
        </p:txBody>
      </p:sp>
      <p:sp>
        <p:nvSpPr>
          <p:cNvPr id="38" name="TextBox 37"/>
          <p:cNvSpPr txBox="1"/>
          <p:nvPr/>
        </p:nvSpPr>
        <p:spPr>
          <a:xfrm>
            <a:off x="777240" y="5486400"/>
            <a:ext cx="2194560" cy="548640"/>
          </a:xfrm>
          <a:prstGeom prst="rect">
            <a:avLst/>
          </a:prstGeom>
          <a:noFill/>
        </p:spPr>
        <p:txBody>
          <a:bodyPr wrap="square" lIns="0" rIns="0" tIns="0" bIns="0" anchor="t">
            <a:spAutoFit/>
          </a:bodyPr>
          <a:lstStyle/>
          <a:p>
            <a:pPr algn="l">
              <a:lnSpc>
                <a:spcPct val="105000"/>
              </a:lnSpc>
              <a:spcAft>
                <a:spcPts val="0"/>
              </a:spcAft>
            </a:pPr>
            <a:r>
              <a:rPr sz="1200" b="0" i="0">
                <a:solidFill>
                  <a:srgbClr val="1E293B"/>
                </a:solidFill>
                <a:latin typeface="Calibri"/>
              </a:rPr>
              <a:t>en Vercel, con demo pública</a:t>
            </a:r>
          </a:p>
        </p:txBody>
      </p:sp>
      <p:sp>
        <p:nvSpPr>
          <p:cNvPr id="39" name="Rounded Rectangle 38"/>
          <p:cNvSpPr/>
          <p:nvPr/>
        </p:nvSpPr>
        <p:spPr>
          <a:xfrm>
            <a:off x="3392424" y="4754880"/>
            <a:ext cx="2560320" cy="1325880"/>
          </a:xfrm>
          <a:prstGeom prst="roundRect">
            <a:avLst>
              <a:gd name="adj" fmla="val 6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21024" y="4846320"/>
            <a:ext cx="2194560" cy="640080"/>
          </a:xfrm>
          <a:prstGeom prst="rect">
            <a:avLst/>
          </a:prstGeom>
          <a:noFill/>
        </p:spPr>
        <p:txBody>
          <a:bodyPr wrap="square" lIns="0" rIns="0" tIns="0" bIns="0" anchor="t">
            <a:spAutoFit/>
          </a:bodyPr>
          <a:lstStyle/>
          <a:p>
            <a:pPr algn="l">
              <a:lnSpc>
                <a:spcPct val="105000"/>
              </a:lnSpc>
              <a:spcAft>
                <a:spcPts val="0"/>
              </a:spcAft>
            </a:pPr>
            <a:r>
              <a:rPr sz="2800" b="1" i="0">
                <a:solidFill>
                  <a:srgbClr val="3730A3"/>
                </a:solidFill>
                <a:latin typeface="Calibri"/>
              </a:rPr>
              <a:t>25</a:t>
            </a:r>
          </a:p>
        </p:txBody>
      </p:sp>
      <p:sp>
        <p:nvSpPr>
          <p:cNvPr id="41" name="TextBox 40"/>
          <p:cNvSpPr txBox="1"/>
          <p:nvPr/>
        </p:nvSpPr>
        <p:spPr>
          <a:xfrm>
            <a:off x="3621024" y="5486400"/>
            <a:ext cx="2194560" cy="548640"/>
          </a:xfrm>
          <a:prstGeom prst="rect">
            <a:avLst/>
          </a:prstGeom>
          <a:noFill/>
        </p:spPr>
        <p:txBody>
          <a:bodyPr wrap="square" lIns="0" rIns="0" tIns="0" bIns="0" anchor="t">
            <a:spAutoFit/>
          </a:bodyPr>
          <a:lstStyle/>
          <a:p>
            <a:pPr algn="l">
              <a:lnSpc>
                <a:spcPct val="105000"/>
              </a:lnSpc>
              <a:spcAft>
                <a:spcPts val="0"/>
              </a:spcAft>
            </a:pPr>
            <a:r>
              <a:rPr sz="1200" b="0" i="0">
                <a:solidFill>
                  <a:srgbClr val="1E293B"/>
                </a:solidFill>
                <a:latin typeface="Calibri"/>
              </a:rPr>
              <a:t>tablas con seguridad por empresa</a:t>
            </a:r>
          </a:p>
        </p:txBody>
      </p:sp>
      <p:sp>
        <p:nvSpPr>
          <p:cNvPr id="42" name="Rounded Rectangle 41"/>
          <p:cNvSpPr/>
          <p:nvPr/>
        </p:nvSpPr>
        <p:spPr>
          <a:xfrm>
            <a:off x="6236207" y="4754880"/>
            <a:ext cx="2560320" cy="1325880"/>
          </a:xfrm>
          <a:prstGeom prst="roundRect">
            <a:avLst>
              <a:gd name="adj" fmla="val 6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64807" y="4846320"/>
            <a:ext cx="2194560" cy="640080"/>
          </a:xfrm>
          <a:prstGeom prst="rect">
            <a:avLst/>
          </a:prstGeom>
          <a:noFill/>
        </p:spPr>
        <p:txBody>
          <a:bodyPr wrap="square" lIns="0" rIns="0" tIns="0" bIns="0" anchor="t">
            <a:spAutoFit/>
          </a:bodyPr>
          <a:lstStyle/>
          <a:p>
            <a:pPr algn="l">
              <a:lnSpc>
                <a:spcPct val="105000"/>
              </a:lnSpc>
              <a:spcAft>
                <a:spcPts val="0"/>
              </a:spcAft>
            </a:pPr>
            <a:r>
              <a:rPr sz="2800" b="1" i="0">
                <a:solidFill>
                  <a:srgbClr val="3730A3"/>
                </a:solidFill>
                <a:latin typeface="Calibri"/>
              </a:rPr>
              <a:t>727</a:t>
            </a:r>
          </a:p>
        </p:txBody>
      </p:sp>
      <p:sp>
        <p:nvSpPr>
          <p:cNvPr id="44" name="TextBox 43"/>
          <p:cNvSpPr txBox="1"/>
          <p:nvPr/>
        </p:nvSpPr>
        <p:spPr>
          <a:xfrm>
            <a:off x="6464807" y="5486400"/>
            <a:ext cx="2194560" cy="548640"/>
          </a:xfrm>
          <a:prstGeom prst="rect">
            <a:avLst/>
          </a:prstGeom>
          <a:noFill/>
        </p:spPr>
        <p:txBody>
          <a:bodyPr wrap="square" lIns="0" rIns="0" tIns="0" bIns="0" anchor="t">
            <a:spAutoFit/>
          </a:bodyPr>
          <a:lstStyle/>
          <a:p>
            <a:pPr algn="l">
              <a:lnSpc>
                <a:spcPct val="105000"/>
              </a:lnSpc>
              <a:spcAft>
                <a:spcPts val="0"/>
              </a:spcAft>
            </a:pPr>
            <a:r>
              <a:rPr sz="1200" b="0" i="0">
                <a:solidFill>
                  <a:srgbClr val="1E293B"/>
                </a:solidFill>
                <a:latin typeface="Calibri"/>
              </a:rPr>
              <a:t>pruebas automáticas</a:t>
            </a:r>
          </a:p>
        </p:txBody>
      </p:sp>
      <p:sp>
        <p:nvSpPr>
          <p:cNvPr id="45" name="Rounded Rectangle 44"/>
          <p:cNvSpPr/>
          <p:nvPr/>
        </p:nvSpPr>
        <p:spPr>
          <a:xfrm>
            <a:off x="9079992" y="4754880"/>
            <a:ext cx="2560320" cy="1325880"/>
          </a:xfrm>
          <a:prstGeom prst="roundRect">
            <a:avLst>
              <a:gd name="adj" fmla="val 6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308592" y="4846320"/>
            <a:ext cx="2194560" cy="640080"/>
          </a:xfrm>
          <a:prstGeom prst="rect">
            <a:avLst/>
          </a:prstGeom>
          <a:noFill/>
        </p:spPr>
        <p:txBody>
          <a:bodyPr wrap="square" lIns="0" rIns="0" tIns="0" bIns="0" anchor="t">
            <a:spAutoFit/>
          </a:bodyPr>
          <a:lstStyle/>
          <a:p>
            <a:pPr algn="l">
              <a:lnSpc>
                <a:spcPct val="105000"/>
              </a:lnSpc>
              <a:spcAft>
                <a:spcPts val="0"/>
              </a:spcAft>
            </a:pPr>
            <a:r>
              <a:rPr sz="2800" b="1" i="0">
                <a:solidFill>
                  <a:srgbClr val="3730A3"/>
                </a:solidFill>
                <a:latin typeface="Calibri"/>
              </a:rPr>
              <a:t>19</a:t>
            </a:r>
          </a:p>
        </p:txBody>
      </p:sp>
      <p:sp>
        <p:nvSpPr>
          <p:cNvPr id="47" name="TextBox 46"/>
          <p:cNvSpPr txBox="1"/>
          <p:nvPr/>
        </p:nvSpPr>
        <p:spPr>
          <a:xfrm>
            <a:off x="9308592" y="5486400"/>
            <a:ext cx="2194560" cy="548640"/>
          </a:xfrm>
          <a:prstGeom prst="rect">
            <a:avLst/>
          </a:prstGeom>
          <a:noFill/>
        </p:spPr>
        <p:txBody>
          <a:bodyPr wrap="square" lIns="0" rIns="0" tIns="0" bIns="0" anchor="t">
            <a:spAutoFit/>
          </a:bodyPr>
          <a:lstStyle/>
          <a:p>
            <a:pPr algn="l">
              <a:lnSpc>
                <a:spcPct val="105000"/>
              </a:lnSpc>
              <a:spcAft>
                <a:spcPts val="0"/>
              </a:spcAft>
            </a:pPr>
            <a:r>
              <a:rPr sz="1200" b="0" i="0">
                <a:solidFill>
                  <a:srgbClr val="1E293B"/>
                </a:solidFill>
                <a:latin typeface="Calibri"/>
              </a:rPr>
              <a:t>países con sus zonas oficiales</a:t>
            </a:r>
          </a:p>
        </p:txBody>
      </p:sp>
      <p:sp>
        <p:nvSpPr>
          <p:cNvPr id="48" name="TextBox 47"/>
          <p:cNvSpPr txBox="1"/>
          <p:nvPr/>
        </p:nvSpPr>
        <p:spPr>
          <a:xfrm>
            <a:off x="548640" y="6446520"/>
            <a:ext cx="8229600" cy="274320"/>
          </a:xfrm>
          <a:prstGeom prst="rect">
            <a:avLst/>
          </a:prstGeom>
          <a:noFill/>
        </p:spPr>
        <p:txBody>
          <a:bodyPr wrap="square" lIns="0" rIns="0" tIns="0" bIns="0" anchor="t">
            <a:spAutoFit/>
          </a:bodyPr>
          <a:lstStyle/>
          <a:p>
            <a:pPr algn="l">
              <a:lnSpc>
                <a:spcPct val="105000"/>
              </a:lnSpc>
              <a:spcAft>
                <a:spcPts val="0"/>
              </a:spcAft>
            </a:pPr>
            <a:r>
              <a:rPr sz="1000" b="0" i="0">
                <a:solidFill>
                  <a:srgbClr val="64748B"/>
                </a:solidFill>
                <a:latin typeface="Calibri"/>
              </a:rPr>
              <a:t>Revela · Avance y roadmap · Yair Hamir Costa Pérez</a:t>
            </a:r>
          </a:p>
        </p:txBody>
      </p:sp>
      <p:sp>
        <p:nvSpPr>
          <p:cNvPr id="49" name="TextBox 48"/>
          <p:cNvSpPr txBox="1"/>
          <p:nvPr/>
        </p:nvSpPr>
        <p:spPr>
          <a:xfrm>
            <a:off x="10698480" y="6446520"/>
            <a:ext cx="941832" cy="274320"/>
          </a:xfrm>
          <a:prstGeom prst="rect">
            <a:avLst/>
          </a:prstGeom>
          <a:noFill/>
        </p:spPr>
        <p:txBody>
          <a:bodyPr wrap="square" lIns="0" rIns="0" tIns="0" bIns="0" anchor="t">
            <a:spAutoFit/>
          </a:bodyPr>
          <a:lstStyle/>
          <a:p>
            <a:pPr algn="r">
              <a:lnSpc>
                <a:spcPct val="105000"/>
              </a:lnSpc>
              <a:spcAft>
                <a:spcPts val="0"/>
              </a:spcAft>
            </a:pPr>
            <a:r>
              <a:rPr sz="1000" b="0" i="0">
                <a:solidFill>
                  <a:srgbClr val="64748B"/>
                </a:solidFill>
                <a:latin typeface="Calibri"/>
              </a:rPr>
              <a:t>3 / 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0972800" cy="320040"/>
          </a:xfrm>
          <a:prstGeom prst="rect">
            <a:avLst/>
          </a:prstGeom>
          <a:noFill/>
        </p:spPr>
        <p:txBody>
          <a:bodyPr wrap="square" lIns="0" rIns="0" tIns="0" bIns="0" anchor="t">
            <a:spAutoFit/>
          </a:bodyPr>
          <a:lstStyle/>
          <a:p>
            <a:pPr algn="l">
              <a:lnSpc>
                <a:spcPct val="105000"/>
              </a:lnSpc>
              <a:spcAft>
                <a:spcPts val="0"/>
              </a:spcAft>
            </a:pPr>
            <a:r>
              <a:rPr sz="1400" b="1" i="0">
                <a:solidFill>
                  <a:srgbClr val="E11D48"/>
                </a:solidFill>
                <a:latin typeface="Calibri"/>
              </a:rPr>
              <a:t>AVANCE DEL BACKLOG</a:t>
            </a:r>
          </a:p>
        </p:txBody>
      </p:sp>
      <p:sp>
        <p:nvSpPr>
          <p:cNvPr id="3" name="TextBox 2"/>
          <p:cNvSpPr txBox="1"/>
          <p:nvPr/>
        </p:nvSpPr>
        <p:spPr>
          <a:xfrm>
            <a:off x="548640" y="713232"/>
            <a:ext cx="11064240" cy="731520"/>
          </a:xfrm>
          <a:prstGeom prst="rect">
            <a:avLst/>
          </a:prstGeom>
          <a:noFill/>
        </p:spPr>
        <p:txBody>
          <a:bodyPr wrap="square" lIns="0" rIns="0" tIns="0" bIns="0" anchor="t">
            <a:spAutoFit/>
          </a:bodyPr>
          <a:lstStyle/>
          <a:p>
            <a:pPr algn="l">
              <a:lnSpc>
                <a:spcPct val="105000"/>
              </a:lnSpc>
              <a:spcAft>
                <a:spcPts val="0"/>
              </a:spcAft>
            </a:pPr>
            <a:r>
              <a:rPr sz="3000" b="1" i="0">
                <a:solidFill>
                  <a:srgbClr val="1E1B4B"/>
                </a:solidFill>
                <a:latin typeface="Calibri"/>
              </a:rPr>
              <a:t>20 historias de usuario: 16 ya están hechas</a:t>
            </a:r>
          </a:p>
        </p:txBody>
      </p:sp>
      <p:graphicFrame>
        <p:nvGraphicFramePr>
          <p:cNvPr id="4" name="Chart 3"/>
          <p:cNvGraphicFramePr>
            <a:graphicFrameLocks noGrp="1"/>
          </p:cNvGraphicFramePr>
          <p:nvPr/>
        </p:nvGraphicFramePr>
        <p:xfrm>
          <a:off x="548640" y="1645920"/>
          <a:ext cx="6949440" cy="4480560"/>
        </p:xfrm>
        <a:graphic>
          <a:graphicData uri="http://schemas.openxmlformats.org/drawingml/2006/chart">
            <c:chart xmlns:c="http://schemas.openxmlformats.org/drawingml/2006/chart" r:id="rId2"/>
          </a:graphicData>
        </a:graphic>
      </p:graphicFrame>
      <p:sp>
        <p:nvSpPr>
          <p:cNvPr id="5" name="Rounded Rectangle 4"/>
          <p:cNvSpPr/>
          <p:nvPr/>
        </p:nvSpPr>
        <p:spPr>
          <a:xfrm>
            <a:off x="7955279" y="1691640"/>
            <a:ext cx="3685032" cy="1371600"/>
          </a:xfrm>
          <a:prstGeom prst="roundRect">
            <a:avLst>
              <a:gd name="adj" fmla="val 6000"/>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83879" y="1801368"/>
            <a:ext cx="1005840" cy="1097280"/>
          </a:xfrm>
          <a:prstGeom prst="rect">
            <a:avLst/>
          </a:prstGeom>
          <a:noFill/>
        </p:spPr>
        <p:txBody>
          <a:bodyPr wrap="square" lIns="0" rIns="0" tIns="0" bIns="0" anchor="t">
            <a:spAutoFit/>
          </a:bodyPr>
          <a:lstStyle/>
          <a:p>
            <a:pPr algn="l">
              <a:lnSpc>
                <a:spcPct val="105000"/>
              </a:lnSpc>
              <a:spcAft>
                <a:spcPts val="0"/>
              </a:spcAft>
            </a:pPr>
            <a:r>
              <a:rPr sz="4400" b="1" i="0">
                <a:solidFill>
                  <a:srgbClr val="16A34A"/>
                </a:solidFill>
                <a:latin typeface="Calibri"/>
              </a:rPr>
              <a:t>16</a:t>
            </a:r>
          </a:p>
        </p:txBody>
      </p:sp>
      <p:sp>
        <p:nvSpPr>
          <p:cNvPr id="7" name="TextBox 6"/>
          <p:cNvSpPr txBox="1"/>
          <p:nvPr/>
        </p:nvSpPr>
        <p:spPr>
          <a:xfrm>
            <a:off x="9189720" y="1874520"/>
            <a:ext cx="2331720" cy="320040"/>
          </a:xfrm>
          <a:prstGeom prst="rect">
            <a:avLst/>
          </a:prstGeom>
          <a:noFill/>
        </p:spPr>
        <p:txBody>
          <a:bodyPr wrap="square" lIns="0" rIns="0" tIns="0" bIns="0" anchor="t">
            <a:spAutoFit/>
          </a:bodyPr>
          <a:lstStyle/>
          <a:p>
            <a:pPr algn="l">
              <a:lnSpc>
                <a:spcPct val="105000"/>
              </a:lnSpc>
              <a:spcAft>
                <a:spcPts val="0"/>
              </a:spcAft>
            </a:pPr>
            <a:r>
              <a:rPr sz="1600" b="1" i="0">
                <a:solidFill>
                  <a:srgbClr val="16A34A"/>
                </a:solidFill>
                <a:latin typeface="Calibri"/>
              </a:rPr>
              <a:t>Hechas</a:t>
            </a:r>
          </a:p>
        </p:txBody>
      </p:sp>
      <p:sp>
        <p:nvSpPr>
          <p:cNvPr id="8" name="TextBox 7"/>
          <p:cNvSpPr txBox="1"/>
          <p:nvPr/>
        </p:nvSpPr>
        <p:spPr>
          <a:xfrm>
            <a:off x="9189720" y="2258568"/>
            <a:ext cx="2331720" cy="777240"/>
          </a:xfrm>
          <a:prstGeom prst="rect">
            <a:avLst/>
          </a:prstGeom>
          <a:noFill/>
        </p:spPr>
        <p:txBody>
          <a:bodyPr wrap="square" lIns="0" rIns="0" tIns="0" bIns="0" anchor="t">
            <a:spAutoFit/>
          </a:bodyPr>
          <a:lstStyle/>
          <a:p>
            <a:pPr algn="l">
              <a:lnSpc>
                <a:spcPct val="105000"/>
              </a:lnSpc>
              <a:spcAft>
                <a:spcPts val="0"/>
              </a:spcAft>
            </a:pPr>
            <a:r>
              <a:rPr sz="1150" b="0" i="0">
                <a:solidFill>
                  <a:srgbClr val="1E293B"/>
                </a:solidFill>
                <a:latin typeface="Calibri"/>
              </a:rPr>
              <a:t>Todas las P1 y P2 (la imagen Docker aún por construir)</a:t>
            </a:r>
          </a:p>
        </p:txBody>
      </p:sp>
      <p:sp>
        <p:nvSpPr>
          <p:cNvPr id="9" name="Rounded Rectangle 8"/>
          <p:cNvSpPr/>
          <p:nvPr/>
        </p:nvSpPr>
        <p:spPr>
          <a:xfrm>
            <a:off x="7955279" y="3200400"/>
            <a:ext cx="3685032" cy="1371600"/>
          </a:xfrm>
          <a:prstGeom prst="roundRect">
            <a:avLst>
              <a:gd name="adj" fmla="val 6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79" y="3310128"/>
            <a:ext cx="1005840" cy="1097280"/>
          </a:xfrm>
          <a:prstGeom prst="rect">
            <a:avLst/>
          </a:prstGeom>
          <a:noFill/>
        </p:spPr>
        <p:txBody>
          <a:bodyPr wrap="square" lIns="0" rIns="0" tIns="0" bIns="0" anchor="t">
            <a:spAutoFit/>
          </a:bodyPr>
          <a:lstStyle/>
          <a:p>
            <a:pPr algn="l">
              <a:lnSpc>
                <a:spcPct val="105000"/>
              </a:lnSpc>
              <a:spcAft>
                <a:spcPts val="0"/>
              </a:spcAft>
            </a:pPr>
            <a:r>
              <a:rPr sz="4400" b="1" i="0">
                <a:solidFill>
                  <a:srgbClr val="D97706"/>
                </a:solidFill>
                <a:latin typeface="Calibri"/>
              </a:rPr>
              <a:t>3</a:t>
            </a:r>
          </a:p>
        </p:txBody>
      </p:sp>
      <p:sp>
        <p:nvSpPr>
          <p:cNvPr id="11" name="TextBox 10"/>
          <p:cNvSpPr txBox="1"/>
          <p:nvPr/>
        </p:nvSpPr>
        <p:spPr>
          <a:xfrm>
            <a:off x="9189720" y="3383280"/>
            <a:ext cx="2331720" cy="320040"/>
          </a:xfrm>
          <a:prstGeom prst="rect">
            <a:avLst/>
          </a:prstGeom>
          <a:noFill/>
        </p:spPr>
        <p:txBody>
          <a:bodyPr wrap="square" lIns="0" rIns="0" tIns="0" bIns="0" anchor="t">
            <a:spAutoFit/>
          </a:bodyPr>
          <a:lstStyle/>
          <a:p>
            <a:pPr algn="l">
              <a:lnSpc>
                <a:spcPct val="105000"/>
              </a:lnSpc>
              <a:spcAft>
                <a:spcPts val="0"/>
              </a:spcAft>
            </a:pPr>
            <a:r>
              <a:rPr sz="1600" b="1" i="0">
                <a:solidFill>
                  <a:srgbClr val="D97706"/>
                </a:solidFill>
                <a:latin typeface="Calibri"/>
              </a:rPr>
              <a:t>Pendientes</a:t>
            </a:r>
          </a:p>
        </p:txBody>
      </p:sp>
      <p:sp>
        <p:nvSpPr>
          <p:cNvPr id="12" name="TextBox 11"/>
          <p:cNvSpPr txBox="1"/>
          <p:nvPr/>
        </p:nvSpPr>
        <p:spPr>
          <a:xfrm>
            <a:off x="9189720" y="3767328"/>
            <a:ext cx="2331720" cy="777240"/>
          </a:xfrm>
          <a:prstGeom prst="rect">
            <a:avLst/>
          </a:prstGeom>
          <a:noFill/>
        </p:spPr>
        <p:txBody>
          <a:bodyPr wrap="square" lIns="0" rIns="0" tIns="0" bIns="0" anchor="t">
            <a:spAutoFit/>
          </a:bodyPr>
          <a:lstStyle/>
          <a:p>
            <a:pPr algn="l">
              <a:lnSpc>
                <a:spcPct val="105000"/>
              </a:lnSpc>
              <a:spcAft>
                <a:spcPts val="0"/>
              </a:spcAft>
            </a:pPr>
            <a:r>
              <a:rPr sz="1150" b="0" i="0">
                <a:solidFill>
                  <a:srgbClr val="1E293B"/>
                </a:solidFill>
                <a:latin typeface="Calibri"/>
              </a:rPr>
              <a:t>Búsqueda real, pago en línea y revisión legal</a:t>
            </a:r>
          </a:p>
        </p:txBody>
      </p:sp>
      <p:sp>
        <p:nvSpPr>
          <p:cNvPr id="13" name="Rounded Rectangle 12"/>
          <p:cNvSpPr/>
          <p:nvPr/>
        </p:nvSpPr>
        <p:spPr>
          <a:xfrm>
            <a:off x="7955279" y="4709160"/>
            <a:ext cx="3685032" cy="1371600"/>
          </a:xfrm>
          <a:prstGeom prst="roundRect">
            <a:avLst>
              <a:gd name="adj" fmla="val 6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83879" y="4818888"/>
            <a:ext cx="1005840" cy="1097280"/>
          </a:xfrm>
          <a:prstGeom prst="rect">
            <a:avLst/>
          </a:prstGeom>
          <a:noFill/>
        </p:spPr>
        <p:txBody>
          <a:bodyPr wrap="square" lIns="0" rIns="0" tIns="0" bIns="0" anchor="t">
            <a:spAutoFit/>
          </a:bodyPr>
          <a:lstStyle/>
          <a:p>
            <a:pPr algn="l">
              <a:lnSpc>
                <a:spcPct val="105000"/>
              </a:lnSpc>
              <a:spcAft>
                <a:spcPts val="0"/>
              </a:spcAft>
            </a:pPr>
            <a:r>
              <a:rPr sz="4400" b="1" i="0">
                <a:solidFill>
                  <a:srgbClr val="475569"/>
                </a:solidFill>
                <a:latin typeface="Calibri"/>
              </a:rPr>
              <a:t>1</a:t>
            </a:r>
          </a:p>
        </p:txBody>
      </p:sp>
      <p:sp>
        <p:nvSpPr>
          <p:cNvPr id="15" name="TextBox 14"/>
          <p:cNvSpPr txBox="1"/>
          <p:nvPr/>
        </p:nvSpPr>
        <p:spPr>
          <a:xfrm>
            <a:off x="9189720" y="4892040"/>
            <a:ext cx="2331720" cy="320040"/>
          </a:xfrm>
          <a:prstGeom prst="rect">
            <a:avLst/>
          </a:prstGeom>
          <a:noFill/>
        </p:spPr>
        <p:txBody>
          <a:bodyPr wrap="square" lIns="0" rIns="0" tIns="0" bIns="0" anchor="t">
            <a:spAutoFit/>
          </a:bodyPr>
          <a:lstStyle/>
          <a:p>
            <a:pPr algn="l">
              <a:lnSpc>
                <a:spcPct val="105000"/>
              </a:lnSpc>
              <a:spcAft>
                <a:spcPts val="0"/>
              </a:spcAft>
            </a:pPr>
            <a:r>
              <a:rPr sz="1600" b="1" i="0">
                <a:solidFill>
                  <a:srgbClr val="475569"/>
                </a:solidFill>
                <a:latin typeface="Calibri"/>
              </a:rPr>
              <a:t>Fuera del MVP</a:t>
            </a:r>
          </a:p>
        </p:txBody>
      </p:sp>
      <p:sp>
        <p:nvSpPr>
          <p:cNvPr id="16" name="TextBox 15"/>
          <p:cNvSpPr txBox="1"/>
          <p:nvPr/>
        </p:nvSpPr>
        <p:spPr>
          <a:xfrm>
            <a:off x="9189720" y="5276088"/>
            <a:ext cx="2331720" cy="777240"/>
          </a:xfrm>
          <a:prstGeom prst="rect">
            <a:avLst/>
          </a:prstGeom>
          <a:noFill/>
        </p:spPr>
        <p:txBody>
          <a:bodyPr wrap="square" lIns="0" rIns="0" tIns="0" bIns="0" anchor="t">
            <a:spAutoFit/>
          </a:bodyPr>
          <a:lstStyle/>
          <a:p>
            <a:pPr algn="l">
              <a:lnSpc>
                <a:spcPct val="105000"/>
              </a:lnSpc>
              <a:spcAft>
                <a:spcPts val="0"/>
              </a:spcAft>
            </a:pPr>
            <a:r>
              <a:rPr sz="1150" b="0" i="0">
                <a:solidFill>
                  <a:srgbClr val="1E293B"/>
                </a:solidFill>
                <a:latin typeface="Calibri"/>
              </a:rPr>
              <a:t>App móvil nativa</a:t>
            </a:r>
          </a:p>
        </p:txBody>
      </p:sp>
      <p:sp>
        <p:nvSpPr>
          <p:cNvPr id="17" name="TextBox 16"/>
          <p:cNvSpPr txBox="1"/>
          <p:nvPr/>
        </p:nvSpPr>
        <p:spPr>
          <a:xfrm>
            <a:off x="548640" y="6446520"/>
            <a:ext cx="8229600" cy="274320"/>
          </a:xfrm>
          <a:prstGeom prst="rect">
            <a:avLst/>
          </a:prstGeom>
          <a:noFill/>
        </p:spPr>
        <p:txBody>
          <a:bodyPr wrap="square" lIns="0" rIns="0" tIns="0" bIns="0" anchor="t">
            <a:spAutoFit/>
          </a:bodyPr>
          <a:lstStyle/>
          <a:p>
            <a:pPr algn="l">
              <a:lnSpc>
                <a:spcPct val="105000"/>
              </a:lnSpc>
              <a:spcAft>
                <a:spcPts val="0"/>
              </a:spcAft>
            </a:pPr>
            <a:r>
              <a:rPr sz="1000" b="0" i="0">
                <a:solidFill>
                  <a:srgbClr val="64748B"/>
                </a:solidFill>
                <a:latin typeface="Calibri"/>
              </a:rPr>
              <a:t>Revela · Avance y roadmap · Yair Hamir Costa Pérez</a:t>
            </a:r>
          </a:p>
        </p:txBody>
      </p:sp>
      <p:sp>
        <p:nvSpPr>
          <p:cNvPr id="18" name="TextBox 17"/>
          <p:cNvSpPr txBox="1"/>
          <p:nvPr/>
        </p:nvSpPr>
        <p:spPr>
          <a:xfrm>
            <a:off x="10698480" y="6446520"/>
            <a:ext cx="941832" cy="274320"/>
          </a:xfrm>
          <a:prstGeom prst="rect">
            <a:avLst/>
          </a:prstGeom>
          <a:noFill/>
        </p:spPr>
        <p:txBody>
          <a:bodyPr wrap="square" lIns="0" rIns="0" tIns="0" bIns="0" anchor="t">
            <a:spAutoFit/>
          </a:bodyPr>
          <a:lstStyle/>
          <a:p>
            <a:pPr algn="r">
              <a:lnSpc>
                <a:spcPct val="105000"/>
              </a:lnSpc>
              <a:spcAft>
                <a:spcPts val="0"/>
              </a:spcAft>
            </a:pPr>
            <a:r>
              <a:rPr sz="1000" b="0" i="0">
                <a:solidFill>
                  <a:srgbClr val="64748B"/>
                </a:solidFill>
                <a:latin typeface="Calibri"/>
              </a:rPr>
              <a:t>4 / 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0972800" cy="320040"/>
          </a:xfrm>
          <a:prstGeom prst="rect">
            <a:avLst/>
          </a:prstGeom>
          <a:noFill/>
        </p:spPr>
        <p:txBody>
          <a:bodyPr wrap="square" lIns="0" rIns="0" tIns="0" bIns="0" anchor="t">
            <a:spAutoFit/>
          </a:bodyPr>
          <a:lstStyle/>
          <a:p>
            <a:pPr algn="l">
              <a:lnSpc>
                <a:spcPct val="105000"/>
              </a:lnSpc>
              <a:spcAft>
                <a:spcPts val="0"/>
              </a:spcAft>
            </a:pPr>
            <a:r>
              <a:rPr sz="1400" b="1" i="0">
                <a:solidFill>
                  <a:srgbClr val="E11D48"/>
                </a:solidFill>
                <a:latin typeface="Calibri"/>
              </a:rPr>
              <a:t>LO QUE FALTA</a:t>
            </a:r>
          </a:p>
        </p:txBody>
      </p:sp>
      <p:sp>
        <p:nvSpPr>
          <p:cNvPr id="3" name="TextBox 2"/>
          <p:cNvSpPr txBox="1"/>
          <p:nvPr/>
        </p:nvSpPr>
        <p:spPr>
          <a:xfrm>
            <a:off x="548640" y="713232"/>
            <a:ext cx="11064240" cy="731520"/>
          </a:xfrm>
          <a:prstGeom prst="rect">
            <a:avLst/>
          </a:prstGeom>
          <a:noFill/>
        </p:spPr>
        <p:txBody>
          <a:bodyPr wrap="square" lIns="0" rIns="0" tIns="0" bIns="0" anchor="t">
            <a:spAutoFit/>
          </a:bodyPr>
          <a:lstStyle/>
          <a:p>
            <a:pPr algn="l">
              <a:lnSpc>
                <a:spcPct val="105000"/>
              </a:lnSpc>
              <a:spcAft>
                <a:spcPts val="0"/>
              </a:spcAft>
            </a:pPr>
            <a:r>
              <a:rPr sz="3000" b="1" i="0">
                <a:solidFill>
                  <a:srgbClr val="1E1B4B"/>
                </a:solidFill>
                <a:latin typeface="Calibri"/>
              </a:rPr>
              <a:t>Del producto y de la entrega</a:t>
            </a:r>
          </a:p>
        </p:txBody>
      </p:sp>
      <p:sp>
        <p:nvSpPr>
          <p:cNvPr id="4" name="Rounded Rectangle 3"/>
          <p:cNvSpPr/>
          <p:nvPr/>
        </p:nvSpPr>
        <p:spPr>
          <a:xfrm>
            <a:off x="548640" y="1691640"/>
            <a:ext cx="5449824" cy="4434840"/>
          </a:xfrm>
          <a:prstGeom prst="roundRect">
            <a:avLst>
              <a:gd name="adj" fmla="val 6000"/>
            </a:avLst>
          </a:prstGeom>
          <a:solidFill>
            <a:srgbClr val="FFFBEB"/>
          </a:solidFill>
          <a:ln w="12700">
            <a:solidFill>
              <a:srgbClr val="FDE6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874519"/>
            <a:ext cx="4846320" cy="365760"/>
          </a:xfrm>
          <a:prstGeom prst="rect">
            <a:avLst/>
          </a:prstGeom>
          <a:noFill/>
        </p:spPr>
        <p:txBody>
          <a:bodyPr wrap="square" lIns="0" rIns="0" tIns="0" bIns="0" anchor="t">
            <a:spAutoFit/>
          </a:bodyPr>
          <a:lstStyle/>
          <a:p>
            <a:pPr algn="l">
              <a:lnSpc>
                <a:spcPct val="105000"/>
              </a:lnSpc>
              <a:spcAft>
                <a:spcPts val="0"/>
              </a:spcAft>
            </a:pPr>
            <a:r>
              <a:rPr sz="1800" b="1" i="0">
                <a:solidFill>
                  <a:srgbClr val="D97706"/>
                </a:solidFill>
                <a:latin typeface="Calibri"/>
              </a:rPr>
              <a:t>Del producto</a:t>
            </a:r>
          </a:p>
        </p:txBody>
      </p:sp>
      <p:sp>
        <p:nvSpPr>
          <p:cNvPr id="6" name="Oval 5"/>
          <p:cNvSpPr/>
          <p:nvPr/>
        </p:nvSpPr>
        <p:spPr>
          <a:xfrm>
            <a:off x="822959" y="2505456"/>
            <a:ext cx="201168" cy="201168"/>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
            </a:r>
          </a:p>
        </p:txBody>
      </p:sp>
      <p:sp>
        <p:nvSpPr>
          <p:cNvPr id="7" name="TextBox 6"/>
          <p:cNvSpPr txBox="1"/>
          <p:nvPr/>
        </p:nvSpPr>
        <p:spPr>
          <a:xfrm>
            <a:off x="1188719" y="2468880"/>
            <a:ext cx="4572000" cy="320040"/>
          </a:xfrm>
          <a:prstGeom prst="rect">
            <a:avLst/>
          </a:prstGeom>
          <a:noFill/>
        </p:spPr>
        <p:txBody>
          <a:bodyPr wrap="square" lIns="0" rIns="0" tIns="0" bIns="0" anchor="t">
            <a:spAutoFit/>
          </a:bodyPr>
          <a:lstStyle/>
          <a:p>
            <a:pPr algn="l">
              <a:lnSpc>
                <a:spcPct val="105000"/>
              </a:lnSpc>
              <a:spcAft>
                <a:spcPts val="0"/>
              </a:spcAft>
            </a:pPr>
            <a:r>
              <a:rPr sz="1500" b="1" i="0">
                <a:solidFill>
                  <a:srgbClr val="1E1B4B"/>
                </a:solidFill>
                <a:latin typeface="Calibri"/>
              </a:rPr>
              <a:t>Búsqueda de empresas reales</a:t>
            </a:r>
          </a:p>
        </p:txBody>
      </p:sp>
      <p:sp>
        <p:nvSpPr>
          <p:cNvPr id="8" name="TextBox 7"/>
          <p:cNvSpPr txBox="1"/>
          <p:nvPr/>
        </p:nvSpPr>
        <p:spPr>
          <a:xfrm>
            <a:off x="1188719" y="2798064"/>
            <a:ext cx="4572000" cy="502920"/>
          </a:xfrm>
          <a:prstGeom prst="rect">
            <a:avLst/>
          </a:prstGeom>
          <a:noFill/>
        </p:spPr>
        <p:txBody>
          <a:bodyPr wrap="square" lIns="0" rIns="0" tIns="0" bIns="0" anchor="t">
            <a:spAutoFit/>
          </a:bodyPr>
          <a:lstStyle/>
          <a:p>
            <a:pPr algn="l">
              <a:lnSpc>
                <a:spcPct val="105000"/>
              </a:lnSpc>
              <a:spcAft>
                <a:spcPts val="0"/>
              </a:spcAft>
            </a:pPr>
            <a:r>
              <a:rPr sz="1200" b="0" i="0">
                <a:solidFill>
                  <a:srgbClr val="64748B"/>
                </a:solidFill>
                <a:latin typeface="Calibri"/>
              </a:rPr>
              <a:t>Hoy muestra datos de ejemplo; falta cargar la clave de Google Places</a:t>
            </a:r>
          </a:p>
        </p:txBody>
      </p:sp>
      <p:sp>
        <p:nvSpPr>
          <p:cNvPr id="9" name="Oval 8"/>
          <p:cNvSpPr/>
          <p:nvPr/>
        </p:nvSpPr>
        <p:spPr>
          <a:xfrm>
            <a:off x="822959" y="3419856"/>
            <a:ext cx="201168" cy="201168"/>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
            </a:r>
          </a:p>
        </p:txBody>
      </p:sp>
      <p:sp>
        <p:nvSpPr>
          <p:cNvPr id="10" name="TextBox 9"/>
          <p:cNvSpPr txBox="1"/>
          <p:nvPr/>
        </p:nvSpPr>
        <p:spPr>
          <a:xfrm>
            <a:off x="1188719" y="3383280"/>
            <a:ext cx="4572000" cy="320040"/>
          </a:xfrm>
          <a:prstGeom prst="rect">
            <a:avLst/>
          </a:prstGeom>
          <a:noFill/>
        </p:spPr>
        <p:txBody>
          <a:bodyPr wrap="square" lIns="0" rIns="0" tIns="0" bIns="0" anchor="t">
            <a:spAutoFit/>
          </a:bodyPr>
          <a:lstStyle/>
          <a:p>
            <a:pPr algn="l">
              <a:lnSpc>
                <a:spcPct val="105000"/>
              </a:lnSpc>
              <a:spcAft>
                <a:spcPts val="0"/>
              </a:spcAft>
            </a:pPr>
            <a:r>
              <a:rPr sz="1500" b="1" i="0">
                <a:solidFill>
                  <a:srgbClr val="1E1B4B"/>
                </a:solidFill>
                <a:latin typeface="Calibri"/>
              </a:rPr>
              <a:t>Pago y alta en línea</a:t>
            </a:r>
          </a:p>
        </p:txBody>
      </p:sp>
      <p:sp>
        <p:nvSpPr>
          <p:cNvPr id="11" name="TextBox 10"/>
          <p:cNvSpPr txBox="1"/>
          <p:nvPr/>
        </p:nvSpPr>
        <p:spPr>
          <a:xfrm>
            <a:off x="1188719" y="3712464"/>
            <a:ext cx="4572000" cy="502920"/>
          </a:xfrm>
          <a:prstGeom prst="rect">
            <a:avLst/>
          </a:prstGeom>
          <a:noFill/>
        </p:spPr>
        <p:txBody>
          <a:bodyPr wrap="square" lIns="0" rIns="0" tIns="0" bIns="0" anchor="t">
            <a:spAutoFit/>
          </a:bodyPr>
          <a:lstStyle/>
          <a:p>
            <a:pPr algn="l">
              <a:lnSpc>
                <a:spcPct val="105000"/>
              </a:lnSpc>
              <a:spcAft>
                <a:spcPts val="0"/>
              </a:spcAft>
            </a:pPr>
            <a:r>
              <a:rPr sz="1200" b="0" i="0">
                <a:solidFill>
                  <a:srgbClr val="64748B"/>
                </a:solidFill>
                <a:latin typeface="Calibri"/>
              </a:rPr>
              <a:t>Está diseñado, no construido</a:t>
            </a:r>
          </a:p>
        </p:txBody>
      </p:sp>
      <p:sp>
        <p:nvSpPr>
          <p:cNvPr id="12" name="Oval 11"/>
          <p:cNvSpPr/>
          <p:nvPr/>
        </p:nvSpPr>
        <p:spPr>
          <a:xfrm>
            <a:off x="822959" y="4334256"/>
            <a:ext cx="201168" cy="201168"/>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
            </a:r>
          </a:p>
        </p:txBody>
      </p:sp>
      <p:sp>
        <p:nvSpPr>
          <p:cNvPr id="13" name="TextBox 12"/>
          <p:cNvSpPr txBox="1"/>
          <p:nvPr/>
        </p:nvSpPr>
        <p:spPr>
          <a:xfrm>
            <a:off x="1188719" y="4297680"/>
            <a:ext cx="4572000" cy="320040"/>
          </a:xfrm>
          <a:prstGeom prst="rect">
            <a:avLst/>
          </a:prstGeom>
          <a:noFill/>
        </p:spPr>
        <p:txBody>
          <a:bodyPr wrap="square" lIns="0" rIns="0" tIns="0" bIns="0" anchor="t">
            <a:spAutoFit/>
          </a:bodyPr>
          <a:lstStyle/>
          <a:p>
            <a:pPr algn="l">
              <a:lnSpc>
                <a:spcPct val="105000"/>
              </a:lnSpc>
              <a:spcAft>
                <a:spcPts val="0"/>
              </a:spcAft>
            </a:pPr>
            <a:r>
              <a:rPr sz="1500" b="1" i="0">
                <a:solidFill>
                  <a:srgbClr val="1E1B4B"/>
                </a:solidFill>
                <a:latin typeface="Calibri"/>
              </a:rPr>
              <a:t>Revisión legal por un abogado</a:t>
            </a:r>
          </a:p>
        </p:txBody>
      </p:sp>
      <p:sp>
        <p:nvSpPr>
          <p:cNvPr id="14" name="TextBox 13"/>
          <p:cNvSpPr txBox="1"/>
          <p:nvPr/>
        </p:nvSpPr>
        <p:spPr>
          <a:xfrm>
            <a:off x="1188719" y="4626864"/>
            <a:ext cx="4572000" cy="502920"/>
          </a:xfrm>
          <a:prstGeom prst="rect">
            <a:avLst/>
          </a:prstGeom>
          <a:noFill/>
        </p:spPr>
        <p:txBody>
          <a:bodyPr wrap="square" lIns="0" rIns="0" tIns="0" bIns="0" anchor="t">
            <a:spAutoFit/>
          </a:bodyPr>
          <a:lstStyle/>
          <a:p>
            <a:pPr algn="l">
              <a:lnSpc>
                <a:spcPct val="105000"/>
              </a:lnSpc>
              <a:spcAft>
                <a:spcPts val="0"/>
              </a:spcAft>
            </a:pPr>
            <a:r>
              <a:rPr sz="1200" b="0" i="0">
                <a:solidFill>
                  <a:srgbClr val="64748B"/>
                </a:solidFill>
                <a:latin typeface="Calibri"/>
              </a:rPr>
              <a:t>Fuera del alcance de la asignatura</a:t>
            </a:r>
          </a:p>
        </p:txBody>
      </p:sp>
      <p:sp>
        <p:nvSpPr>
          <p:cNvPr id="15" name="Oval 14"/>
          <p:cNvSpPr/>
          <p:nvPr/>
        </p:nvSpPr>
        <p:spPr>
          <a:xfrm>
            <a:off x="822959" y="5248656"/>
            <a:ext cx="201168" cy="201168"/>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
            </a:r>
          </a:p>
        </p:txBody>
      </p:sp>
      <p:sp>
        <p:nvSpPr>
          <p:cNvPr id="16" name="TextBox 15"/>
          <p:cNvSpPr txBox="1"/>
          <p:nvPr/>
        </p:nvSpPr>
        <p:spPr>
          <a:xfrm>
            <a:off x="1188719" y="5212080"/>
            <a:ext cx="4572000" cy="320040"/>
          </a:xfrm>
          <a:prstGeom prst="rect">
            <a:avLst/>
          </a:prstGeom>
          <a:noFill/>
        </p:spPr>
        <p:txBody>
          <a:bodyPr wrap="square" lIns="0" rIns="0" tIns="0" bIns="0" anchor="t">
            <a:spAutoFit/>
          </a:bodyPr>
          <a:lstStyle/>
          <a:p>
            <a:pPr algn="l">
              <a:lnSpc>
                <a:spcPct val="105000"/>
              </a:lnSpc>
              <a:spcAft>
                <a:spcPts val="0"/>
              </a:spcAft>
            </a:pPr>
            <a:r>
              <a:rPr sz="1500" b="1" i="0">
                <a:solidFill>
                  <a:srgbClr val="1E1B4B"/>
                </a:solidFill>
                <a:latin typeface="Calibri"/>
              </a:rPr>
              <a:t>App móvil nativa</a:t>
            </a:r>
          </a:p>
        </p:txBody>
      </p:sp>
      <p:sp>
        <p:nvSpPr>
          <p:cNvPr id="17" name="TextBox 16"/>
          <p:cNvSpPr txBox="1"/>
          <p:nvPr/>
        </p:nvSpPr>
        <p:spPr>
          <a:xfrm>
            <a:off x="1188719" y="5541264"/>
            <a:ext cx="4572000" cy="502920"/>
          </a:xfrm>
          <a:prstGeom prst="rect">
            <a:avLst/>
          </a:prstGeom>
          <a:noFill/>
        </p:spPr>
        <p:txBody>
          <a:bodyPr wrap="square" lIns="0" rIns="0" tIns="0" bIns="0" anchor="t">
            <a:spAutoFit/>
          </a:bodyPr>
          <a:lstStyle/>
          <a:p>
            <a:pPr algn="l">
              <a:lnSpc>
                <a:spcPct val="105000"/>
              </a:lnSpc>
              <a:spcAft>
                <a:spcPts val="0"/>
              </a:spcAft>
            </a:pPr>
            <a:r>
              <a:rPr sz="1200" b="0" i="0">
                <a:solidFill>
                  <a:srgbClr val="64748B"/>
                </a:solidFill>
                <a:latin typeface="Calibri"/>
              </a:rPr>
              <a:t>Fuera del MVP; la interfaz sí es responsiva</a:t>
            </a:r>
          </a:p>
        </p:txBody>
      </p:sp>
      <p:sp>
        <p:nvSpPr>
          <p:cNvPr id="18" name="Rounded Rectangle 17"/>
          <p:cNvSpPr/>
          <p:nvPr/>
        </p:nvSpPr>
        <p:spPr>
          <a:xfrm>
            <a:off x="6190488" y="1691640"/>
            <a:ext cx="5449824" cy="4434840"/>
          </a:xfrm>
          <a:prstGeom prst="roundRect">
            <a:avLst>
              <a:gd name="adj" fmla="val 6000"/>
            </a:avLst>
          </a:prstGeom>
          <a:solidFill>
            <a:srgbClr val="EEF2FF"/>
          </a:solidFill>
          <a:ln w="12700">
            <a:solidFill>
              <a:srgbClr val="C7D2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64807" y="1874519"/>
            <a:ext cx="4846320" cy="365760"/>
          </a:xfrm>
          <a:prstGeom prst="rect">
            <a:avLst/>
          </a:prstGeom>
          <a:noFill/>
        </p:spPr>
        <p:txBody>
          <a:bodyPr wrap="square" lIns="0" rIns="0" tIns="0" bIns="0" anchor="t">
            <a:spAutoFit/>
          </a:bodyPr>
          <a:lstStyle/>
          <a:p>
            <a:pPr algn="l">
              <a:lnSpc>
                <a:spcPct val="105000"/>
              </a:lnSpc>
              <a:spcAft>
                <a:spcPts val="0"/>
              </a:spcAft>
            </a:pPr>
            <a:r>
              <a:rPr sz="1800" b="1" i="0">
                <a:solidFill>
                  <a:srgbClr val="3730A3"/>
                </a:solidFill>
                <a:latin typeface="Calibri"/>
              </a:rPr>
              <a:t>De la entrega</a:t>
            </a:r>
          </a:p>
        </p:txBody>
      </p:sp>
      <p:sp>
        <p:nvSpPr>
          <p:cNvPr id="20" name="Oval 19"/>
          <p:cNvSpPr/>
          <p:nvPr/>
        </p:nvSpPr>
        <p:spPr>
          <a:xfrm>
            <a:off x="6464807" y="2505456"/>
            <a:ext cx="201168" cy="201168"/>
          </a:xfrm>
          <a:prstGeom prst="ellipse">
            <a:avLst/>
          </a:prstGeom>
          <a:solidFill>
            <a:srgbClr val="3730A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
            </a:r>
          </a:p>
        </p:txBody>
      </p:sp>
      <p:sp>
        <p:nvSpPr>
          <p:cNvPr id="21" name="TextBox 20"/>
          <p:cNvSpPr txBox="1"/>
          <p:nvPr/>
        </p:nvSpPr>
        <p:spPr>
          <a:xfrm>
            <a:off x="6830568" y="2468880"/>
            <a:ext cx="4572000" cy="320040"/>
          </a:xfrm>
          <a:prstGeom prst="rect">
            <a:avLst/>
          </a:prstGeom>
          <a:noFill/>
        </p:spPr>
        <p:txBody>
          <a:bodyPr wrap="square" lIns="0" rIns="0" tIns="0" bIns="0" anchor="t">
            <a:spAutoFit/>
          </a:bodyPr>
          <a:lstStyle/>
          <a:p>
            <a:pPr algn="l">
              <a:lnSpc>
                <a:spcPct val="105000"/>
              </a:lnSpc>
              <a:spcAft>
                <a:spcPts val="0"/>
              </a:spcAft>
            </a:pPr>
            <a:r>
              <a:rPr sz="1500" b="1" i="0">
                <a:solidFill>
                  <a:srgbClr val="1E1B4B"/>
                </a:solidFill>
                <a:latin typeface="Calibri"/>
              </a:rPr>
              <a:t>Imagen Docker</a:t>
            </a:r>
          </a:p>
        </p:txBody>
      </p:sp>
      <p:sp>
        <p:nvSpPr>
          <p:cNvPr id="22" name="TextBox 21"/>
          <p:cNvSpPr txBox="1"/>
          <p:nvPr/>
        </p:nvSpPr>
        <p:spPr>
          <a:xfrm>
            <a:off x="6830568" y="2798064"/>
            <a:ext cx="4572000" cy="502920"/>
          </a:xfrm>
          <a:prstGeom prst="rect">
            <a:avLst/>
          </a:prstGeom>
          <a:noFill/>
        </p:spPr>
        <p:txBody>
          <a:bodyPr wrap="square" lIns="0" rIns="0" tIns="0" bIns="0" anchor="t">
            <a:spAutoFit/>
          </a:bodyPr>
          <a:lstStyle/>
          <a:p>
            <a:pPr algn="l">
              <a:lnSpc>
                <a:spcPct val="105000"/>
              </a:lnSpc>
              <a:spcAft>
                <a:spcPts val="0"/>
              </a:spcAft>
            </a:pPr>
            <a:r>
              <a:rPr sz="1200" b="0" i="0">
                <a:solidFill>
                  <a:srgbClr val="64748B"/>
                </a:solidFill>
                <a:latin typeface="Calibri"/>
              </a:rPr>
              <a:t>Construirla y probarla en un equipo con Docker</a:t>
            </a:r>
          </a:p>
        </p:txBody>
      </p:sp>
      <p:sp>
        <p:nvSpPr>
          <p:cNvPr id="23" name="Oval 22"/>
          <p:cNvSpPr/>
          <p:nvPr/>
        </p:nvSpPr>
        <p:spPr>
          <a:xfrm>
            <a:off x="6464807" y="3419856"/>
            <a:ext cx="201168" cy="201168"/>
          </a:xfrm>
          <a:prstGeom prst="ellipse">
            <a:avLst/>
          </a:prstGeom>
          <a:solidFill>
            <a:srgbClr val="3730A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
            </a:r>
          </a:p>
        </p:txBody>
      </p:sp>
      <p:sp>
        <p:nvSpPr>
          <p:cNvPr id="24" name="TextBox 23"/>
          <p:cNvSpPr txBox="1"/>
          <p:nvPr/>
        </p:nvSpPr>
        <p:spPr>
          <a:xfrm>
            <a:off x="6830568" y="3383280"/>
            <a:ext cx="4572000" cy="320040"/>
          </a:xfrm>
          <a:prstGeom prst="rect">
            <a:avLst/>
          </a:prstGeom>
          <a:noFill/>
        </p:spPr>
        <p:txBody>
          <a:bodyPr wrap="square" lIns="0" rIns="0" tIns="0" bIns="0" anchor="t">
            <a:spAutoFit/>
          </a:bodyPr>
          <a:lstStyle/>
          <a:p>
            <a:pPr algn="l">
              <a:lnSpc>
                <a:spcPct val="105000"/>
              </a:lnSpc>
              <a:spcAft>
                <a:spcPts val="0"/>
              </a:spcAft>
            </a:pPr>
            <a:r>
              <a:rPr sz="1500" b="1" i="0">
                <a:solidFill>
                  <a:srgbClr val="1E1B4B"/>
                </a:solidFill>
                <a:latin typeface="Calibri"/>
              </a:rPr>
              <a:t>Piloto con la empresa</a:t>
            </a:r>
          </a:p>
        </p:txBody>
      </p:sp>
      <p:sp>
        <p:nvSpPr>
          <p:cNvPr id="25" name="TextBox 24"/>
          <p:cNvSpPr txBox="1"/>
          <p:nvPr/>
        </p:nvSpPr>
        <p:spPr>
          <a:xfrm>
            <a:off x="6830568" y="3712464"/>
            <a:ext cx="4572000" cy="502920"/>
          </a:xfrm>
          <a:prstGeom prst="rect">
            <a:avLst/>
          </a:prstGeom>
          <a:noFill/>
        </p:spPr>
        <p:txBody>
          <a:bodyPr wrap="square" lIns="0" rIns="0" tIns="0" bIns="0" anchor="t">
            <a:spAutoFit/>
          </a:bodyPr>
          <a:lstStyle/>
          <a:p>
            <a:pPr algn="l">
              <a:lnSpc>
                <a:spcPct val="105000"/>
              </a:lnSpc>
              <a:spcAft>
                <a:spcPts val="0"/>
              </a:spcAft>
            </a:pPr>
            <a:r>
              <a:rPr sz="1200" b="0" i="0">
                <a:solidFill>
                  <a:srgbClr val="64748B"/>
                </a:solidFill>
                <a:latin typeface="Calibri"/>
              </a:rPr>
              <a:t>Recoger su retroalimentación y hacer mejoras</a:t>
            </a:r>
          </a:p>
        </p:txBody>
      </p:sp>
      <p:sp>
        <p:nvSpPr>
          <p:cNvPr id="26" name="Oval 25"/>
          <p:cNvSpPr/>
          <p:nvPr/>
        </p:nvSpPr>
        <p:spPr>
          <a:xfrm>
            <a:off x="6464807" y="4334256"/>
            <a:ext cx="201168" cy="201168"/>
          </a:xfrm>
          <a:prstGeom prst="ellipse">
            <a:avLst/>
          </a:prstGeom>
          <a:solidFill>
            <a:srgbClr val="3730A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
            </a:r>
          </a:p>
        </p:txBody>
      </p:sp>
      <p:sp>
        <p:nvSpPr>
          <p:cNvPr id="27" name="TextBox 26"/>
          <p:cNvSpPr txBox="1"/>
          <p:nvPr/>
        </p:nvSpPr>
        <p:spPr>
          <a:xfrm>
            <a:off x="6830568" y="4297680"/>
            <a:ext cx="4572000" cy="320040"/>
          </a:xfrm>
          <a:prstGeom prst="rect">
            <a:avLst/>
          </a:prstGeom>
          <a:noFill/>
        </p:spPr>
        <p:txBody>
          <a:bodyPr wrap="square" lIns="0" rIns="0" tIns="0" bIns="0" anchor="t">
            <a:spAutoFit/>
          </a:bodyPr>
          <a:lstStyle/>
          <a:p>
            <a:pPr algn="l">
              <a:lnSpc>
                <a:spcPct val="105000"/>
              </a:lnSpc>
              <a:spcAft>
                <a:spcPts val="0"/>
              </a:spcAft>
            </a:pPr>
            <a:r>
              <a:rPr sz="1500" b="1" i="0">
                <a:solidFill>
                  <a:srgbClr val="1E1B4B"/>
                </a:solidFill>
                <a:latin typeface="Calibri"/>
              </a:rPr>
              <a:t>Cierre de la iteración 5</a:t>
            </a:r>
          </a:p>
        </p:txBody>
      </p:sp>
      <p:sp>
        <p:nvSpPr>
          <p:cNvPr id="28" name="TextBox 27"/>
          <p:cNvSpPr txBox="1"/>
          <p:nvPr/>
        </p:nvSpPr>
        <p:spPr>
          <a:xfrm>
            <a:off x="6830568" y="4626864"/>
            <a:ext cx="4572000" cy="502920"/>
          </a:xfrm>
          <a:prstGeom prst="rect">
            <a:avLst/>
          </a:prstGeom>
          <a:noFill/>
        </p:spPr>
        <p:txBody>
          <a:bodyPr wrap="square" lIns="0" rIns="0" tIns="0" bIns="0" anchor="t">
            <a:spAutoFit/>
          </a:bodyPr>
          <a:lstStyle/>
          <a:p>
            <a:pPr algn="l">
              <a:lnSpc>
                <a:spcPct val="105000"/>
              </a:lnSpc>
              <a:spcAft>
                <a:spcPts val="0"/>
              </a:spcAft>
            </a:pPr>
            <a:r>
              <a:rPr sz="1200" b="0" i="0">
                <a:solidFill>
                  <a:srgbClr val="64748B"/>
                </a:solidFill>
                <a:latin typeface="Calibri"/>
              </a:rPr>
              <a:t>Retrospectiva final y firma del acta</a:t>
            </a:r>
          </a:p>
        </p:txBody>
      </p:sp>
      <p:sp>
        <p:nvSpPr>
          <p:cNvPr id="29" name="Oval 28"/>
          <p:cNvSpPr/>
          <p:nvPr/>
        </p:nvSpPr>
        <p:spPr>
          <a:xfrm>
            <a:off x="6464807" y="5248656"/>
            <a:ext cx="201168" cy="201168"/>
          </a:xfrm>
          <a:prstGeom prst="ellipse">
            <a:avLst/>
          </a:prstGeom>
          <a:solidFill>
            <a:srgbClr val="3730A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
            </a:r>
          </a:p>
        </p:txBody>
      </p:sp>
      <p:sp>
        <p:nvSpPr>
          <p:cNvPr id="30" name="TextBox 29"/>
          <p:cNvSpPr txBox="1"/>
          <p:nvPr/>
        </p:nvSpPr>
        <p:spPr>
          <a:xfrm>
            <a:off x="6830568" y="5212080"/>
            <a:ext cx="4572000" cy="320040"/>
          </a:xfrm>
          <a:prstGeom prst="rect">
            <a:avLst/>
          </a:prstGeom>
          <a:noFill/>
        </p:spPr>
        <p:txBody>
          <a:bodyPr wrap="square" lIns="0" rIns="0" tIns="0" bIns="0" anchor="t">
            <a:spAutoFit/>
          </a:bodyPr>
          <a:lstStyle/>
          <a:p>
            <a:pPr algn="l">
              <a:lnSpc>
                <a:spcPct val="105000"/>
              </a:lnSpc>
              <a:spcAft>
                <a:spcPts val="0"/>
              </a:spcAft>
            </a:pPr>
            <a:r>
              <a:rPr sz="1500" b="1" i="0">
                <a:solidFill>
                  <a:srgbClr val="1E1B4B"/>
                </a:solidFill>
                <a:latin typeface="Calibri"/>
              </a:rPr>
              <a:t>Informes y presentación</a:t>
            </a:r>
          </a:p>
        </p:txBody>
      </p:sp>
      <p:sp>
        <p:nvSpPr>
          <p:cNvPr id="31" name="TextBox 30"/>
          <p:cNvSpPr txBox="1"/>
          <p:nvPr/>
        </p:nvSpPr>
        <p:spPr>
          <a:xfrm>
            <a:off x="6830568" y="5541264"/>
            <a:ext cx="4572000" cy="502920"/>
          </a:xfrm>
          <a:prstGeom prst="rect">
            <a:avLst/>
          </a:prstGeom>
          <a:noFill/>
        </p:spPr>
        <p:txBody>
          <a:bodyPr wrap="square" lIns="0" rIns="0" tIns="0" bIns="0" anchor="t">
            <a:spAutoFit/>
          </a:bodyPr>
          <a:lstStyle/>
          <a:p>
            <a:pPr algn="l">
              <a:lnSpc>
                <a:spcPct val="105000"/>
              </a:lnSpc>
              <a:spcAft>
                <a:spcPts val="0"/>
              </a:spcAft>
            </a:pPr>
            <a:r>
              <a:rPr sz="1200" b="0" i="0">
                <a:solidFill>
                  <a:srgbClr val="64748B"/>
                </a:solidFill>
                <a:latin typeface="Calibri"/>
              </a:rPr>
              <a:t>Informe de avance, informe final y presentación</a:t>
            </a:r>
          </a:p>
        </p:txBody>
      </p:sp>
      <p:sp>
        <p:nvSpPr>
          <p:cNvPr id="32" name="TextBox 31"/>
          <p:cNvSpPr txBox="1"/>
          <p:nvPr/>
        </p:nvSpPr>
        <p:spPr>
          <a:xfrm>
            <a:off x="548640" y="6446520"/>
            <a:ext cx="8229600" cy="274320"/>
          </a:xfrm>
          <a:prstGeom prst="rect">
            <a:avLst/>
          </a:prstGeom>
          <a:noFill/>
        </p:spPr>
        <p:txBody>
          <a:bodyPr wrap="square" lIns="0" rIns="0" tIns="0" bIns="0" anchor="t">
            <a:spAutoFit/>
          </a:bodyPr>
          <a:lstStyle/>
          <a:p>
            <a:pPr algn="l">
              <a:lnSpc>
                <a:spcPct val="105000"/>
              </a:lnSpc>
              <a:spcAft>
                <a:spcPts val="0"/>
              </a:spcAft>
            </a:pPr>
            <a:r>
              <a:rPr sz="1000" b="0" i="0">
                <a:solidFill>
                  <a:srgbClr val="64748B"/>
                </a:solidFill>
                <a:latin typeface="Calibri"/>
              </a:rPr>
              <a:t>Revela · Avance y roadmap · Yair Hamir Costa Pérez</a:t>
            </a:r>
          </a:p>
        </p:txBody>
      </p:sp>
      <p:sp>
        <p:nvSpPr>
          <p:cNvPr id="33" name="TextBox 32"/>
          <p:cNvSpPr txBox="1"/>
          <p:nvPr/>
        </p:nvSpPr>
        <p:spPr>
          <a:xfrm>
            <a:off x="10698480" y="6446520"/>
            <a:ext cx="941832" cy="274320"/>
          </a:xfrm>
          <a:prstGeom prst="rect">
            <a:avLst/>
          </a:prstGeom>
          <a:noFill/>
        </p:spPr>
        <p:txBody>
          <a:bodyPr wrap="square" lIns="0" rIns="0" tIns="0" bIns="0" anchor="t">
            <a:spAutoFit/>
          </a:bodyPr>
          <a:lstStyle/>
          <a:p>
            <a:pPr algn="r">
              <a:lnSpc>
                <a:spcPct val="105000"/>
              </a:lnSpc>
              <a:spcAft>
                <a:spcPts val="0"/>
              </a:spcAft>
            </a:pPr>
            <a:r>
              <a:rPr sz="1000" b="0" i="0">
                <a:solidFill>
                  <a:srgbClr val="64748B"/>
                </a:solidFill>
                <a:latin typeface="Calibri"/>
              </a:rPr>
              <a:t>5 / 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0972800" cy="320040"/>
          </a:xfrm>
          <a:prstGeom prst="rect">
            <a:avLst/>
          </a:prstGeom>
          <a:noFill/>
        </p:spPr>
        <p:txBody>
          <a:bodyPr wrap="square" lIns="0" rIns="0" tIns="0" bIns="0" anchor="t">
            <a:spAutoFit/>
          </a:bodyPr>
          <a:lstStyle/>
          <a:p>
            <a:pPr algn="l">
              <a:lnSpc>
                <a:spcPct val="105000"/>
              </a:lnSpc>
              <a:spcAft>
                <a:spcPts val="0"/>
              </a:spcAft>
            </a:pPr>
            <a:r>
              <a:rPr sz="1400" b="1" i="0">
                <a:solidFill>
                  <a:srgbClr val="E11D48"/>
                </a:solidFill>
                <a:latin typeface="Calibri"/>
              </a:rPr>
              <a:t>ROADMAP</a:t>
            </a:r>
          </a:p>
        </p:txBody>
      </p:sp>
      <p:sp>
        <p:nvSpPr>
          <p:cNvPr id="3" name="TextBox 2"/>
          <p:cNvSpPr txBox="1"/>
          <p:nvPr/>
        </p:nvSpPr>
        <p:spPr>
          <a:xfrm>
            <a:off x="548640" y="713232"/>
            <a:ext cx="11064240" cy="731520"/>
          </a:xfrm>
          <a:prstGeom prst="rect">
            <a:avLst/>
          </a:prstGeom>
          <a:noFill/>
        </p:spPr>
        <p:txBody>
          <a:bodyPr wrap="square" lIns="0" rIns="0" tIns="0" bIns="0" anchor="t">
            <a:spAutoFit/>
          </a:bodyPr>
          <a:lstStyle/>
          <a:p>
            <a:pPr algn="l">
              <a:lnSpc>
                <a:spcPct val="105000"/>
              </a:lnSpc>
              <a:spcAft>
                <a:spcPts val="0"/>
              </a:spcAft>
            </a:pPr>
            <a:r>
              <a:rPr sz="3000" b="1" i="0">
                <a:solidFill>
                  <a:srgbClr val="1E1B4B"/>
                </a:solidFill>
                <a:latin typeface="Calibri"/>
              </a:rPr>
              <a:t>Hasta la semana 18</a:t>
            </a:r>
          </a:p>
        </p:txBody>
      </p:sp>
      <p:sp>
        <p:nvSpPr>
          <p:cNvPr id="4" name="TextBox 3"/>
          <p:cNvSpPr txBox="1"/>
          <p:nvPr/>
        </p:nvSpPr>
        <p:spPr>
          <a:xfrm>
            <a:off x="548640" y="1691640"/>
            <a:ext cx="2651760" cy="274320"/>
          </a:xfrm>
          <a:prstGeom prst="rect">
            <a:avLst/>
          </a:prstGeom>
          <a:noFill/>
        </p:spPr>
        <p:txBody>
          <a:bodyPr wrap="square" lIns="0" rIns="0" tIns="0" bIns="0" anchor="t">
            <a:spAutoFit/>
          </a:bodyPr>
          <a:lstStyle/>
          <a:p>
            <a:pPr algn="l">
              <a:lnSpc>
                <a:spcPct val="105000"/>
              </a:lnSpc>
              <a:spcAft>
                <a:spcPts val="0"/>
              </a:spcAft>
            </a:pPr>
            <a:r>
              <a:rPr sz="1200" b="1" i="0">
                <a:solidFill>
                  <a:srgbClr val="64748B"/>
                </a:solidFill>
                <a:latin typeface="Calibri"/>
              </a:rPr>
              <a:t>Actividad</a:t>
            </a:r>
          </a:p>
        </p:txBody>
      </p:sp>
      <p:sp>
        <p:nvSpPr>
          <p:cNvPr id="5" name="Rounded Rectangle 4"/>
          <p:cNvSpPr/>
          <p:nvPr/>
        </p:nvSpPr>
        <p:spPr>
          <a:xfrm>
            <a:off x="3291840" y="1645920"/>
            <a:ext cx="5760720" cy="310896"/>
          </a:xfrm>
          <a:prstGeom prst="roundRect">
            <a:avLst>
              <a:gd name="adj" fmla="val 2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91840" y="1645920"/>
            <a:ext cx="5760720" cy="310896"/>
          </a:xfrm>
          <a:prstGeom prst="rect">
            <a:avLst/>
          </a:prstGeom>
          <a:noFill/>
        </p:spPr>
        <p:txBody>
          <a:bodyPr wrap="square" lIns="0" rIns="0" tIns="0" bIns="0" anchor="ctr">
            <a:spAutoFit/>
          </a:bodyPr>
          <a:lstStyle/>
          <a:p>
            <a:pPr algn="ctr">
              <a:lnSpc>
                <a:spcPct val="105000"/>
              </a:lnSpc>
              <a:spcAft>
                <a:spcPts val="0"/>
              </a:spcAft>
            </a:pPr>
            <a:r>
              <a:rPr sz="1100" b="1" i="0">
                <a:solidFill>
                  <a:srgbClr val="D97706"/>
                </a:solidFill>
                <a:latin typeface="Calibri"/>
              </a:rPr>
              <a:t>Fase 2</a:t>
            </a:r>
          </a:p>
        </p:txBody>
      </p:sp>
      <p:sp>
        <p:nvSpPr>
          <p:cNvPr id="7" name="Rounded Rectangle 6"/>
          <p:cNvSpPr/>
          <p:nvPr/>
        </p:nvSpPr>
        <p:spPr>
          <a:xfrm>
            <a:off x="9052560" y="1645920"/>
            <a:ext cx="2468880" cy="310896"/>
          </a:xfrm>
          <a:prstGeom prst="roundRect">
            <a:avLst>
              <a:gd name="adj" fmla="val 20000"/>
            </a:avLst>
          </a:prstGeom>
          <a:solidFill>
            <a:srgbClr val="FF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0" y="1645920"/>
            <a:ext cx="2468880" cy="310896"/>
          </a:xfrm>
          <a:prstGeom prst="rect">
            <a:avLst/>
          </a:prstGeom>
          <a:noFill/>
        </p:spPr>
        <p:txBody>
          <a:bodyPr wrap="square" lIns="0" rIns="0" tIns="0" bIns="0" anchor="ctr">
            <a:spAutoFit/>
          </a:bodyPr>
          <a:lstStyle/>
          <a:p>
            <a:pPr algn="ctr">
              <a:lnSpc>
                <a:spcPct val="105000"/>
              </a:lnSpc>
              <a:spcAft>
                <a:spcPts val="0"/>
              </a:spcAft>
            </a:pPr>
            <a:r>
              <a:rPr sz="1100" b="1" i="0">
                <a:solidFill>
                  <a:srgbClr val="E11D48"/>
                </a:solidFill>
                <a:latin typeface="Calibri"/>
              </a:rPr>
              <a:t>Fase 3</a:t>
            </a:r>
          </a:p>
        </p:txBody>
      </p:sp>
      <p:sp>
        <p:nvSpPr>
          <p:cNvPr id="9" name="TextBox 8"/>
          <p:cNvSpPr txBox="1"/>
          <p:nvPr/>
        </p:nvSpPr>
        <p:spPr>
          <a:xfrm>
            <a:off x="3291840" y="2057400"/>
            <a:ext cx="822960" cy="274320"/>
          </a:xfrm>
          <a:prstGeom prst="rect">
            <a:avLst/>
          </a:prstGeom>
          <a:noFill/>
        </p:spPr>
        <p:txBody>
          <a:bodyPr wrap="square" lIns="0" rIns="0" tIns="0" bIns="0" anchor="t">
            <a:spAutoFit/>
          </a:bodyPr>
          <a:lstStyle/>
          <a:p>
            <a:pPr algn="ctr">
              <a:lnSpc>
                <a:spcPct val="105000"/>
              </a:lnSpc>
              <a:spcAft>
                <a:spcPts val="0"/>
              </a:spcAft>
            </a:pPr>
            <a:r>
              <a:rPr sz="1200" b="1" i="0">
                <a:solidFill>
                  <a:srgbClr val="E11D48"/>
                </a:solidFill>
                <a:latin typeface="Calibri"/>
              </a:rPr>
              <a:t>S9</a:t>
            </a:r>
          </a:p>
        </p:txBody>
      </p:sp>
      <p:sp>
        <p:nvSpPr>
          <p:cNvPr id="10" name="TextBox 9"/>
          <p:cNvSpPr txBox="1"/>
          <p:nvPr/>
        </p:nvSpPr>
        <p:spPr>
          <a:xfrm>
            <a:off x="4114800" y="2057400"/>
            <a:ext cx="822960" cy="274320"/>
          </a:xfrm>
          <a:prstGeom prst="rect">
            <a:avLst/>
          </a:prstGeom>
          <a:noFill/>
        </p:spPr>
        <p:txBody>
          <a:bodyPr wrap="square" lIns="0" rIns="0" tIns="0" bIns="0" anchor="t">
            <a:spAutoFit/>
          </a:bodyPr>
          <a:lstStyle/>
          <a:p>
            <a:pPr algn="ctr">
              <a:lnSpc>
                <a:spcPct val="105000"/>
              </a:lnSpc>
              <a:spcAft>
                <a:spcPts val="0"/>
              </a:spcAft>
            </a:pPr>
            <a:r>
              <a:rPr sz="1200" b="1" i="0">
                <a:solidFill>
                  <a:srgbClr val="64748B"/>
                </a:solidFill>
                <a:latin typeface="Calibri"/>
              </a:rPr>
              <a:t>S10</a:t>
            </a:r>
          </a:p>
        </p:txBody>
      </p:sp>
      <p:sp>
        <p:nvSpPr>
          <p:cNvPr id="11" name="TextBox 10"/>
          <p:cNvSpPr txBox="1"/>
          <p:nvPr/>
        </p:nvSpPr>
        <p:spPr>
          <a:xfrm>
            <a:off x="4937760" y="2057400"/>
            <a:ext cx="822960" cy="274320"/>
          </a:xfrm>
          <a:prstGeom prst="rect">
            <a:avLst/>
          </a:prstGeom>
          <a:noFill/>
        </p:spPr>
        <p:txBody>
          <a:bodyPr wrap="square" lIns="0" rIns="0" tIns="0" bIns="0" anchor="t">
            <a:spAutoFit/>
          </a:bodyPr>
          <a:lstStyle/>
          <a:p>
            <a:pPr algn="ctr">
              <a:lnSpc>
                <a:spcPct val="105000"/>
              </a:lnSpc>
              <a:spcAft>
                <a:spcPts val="0"/>
              </a:spcAft>
            </a:pPr>
            <a:r>
              <a:rPr sz="1200" b="1" i="0">
                <a:solidFill>
                  <a:srgbClr val="64748B"/>
                </a:solidFill>
                <a:latin typeface="Calibri"/>
              </a:rPr>
              <a:t>S11</a:t>
            </a:r>
          </a:p>
        </p:txBody>
      </p:sp>
      <p:sp>
        <p:nvSpPr>
          <p:cNvPr id="12" name="TextBox 11"/>
          <p:cNvSpPr txBox="1"/>
          <p:nvPr/>
        </p:nvSpPr>
        <p:spPr>
          <a:xfrm>
            <a:off x="5760720" y="2057400"/>
            <a:ext cx="822960" cy="274320"/>
          </a:xfrm>
          <a:prstGeom prst="rect">
            <a:avLst/>
          </a:prstGeom>
          <a:noFill/>
        </p:spPr>
        <p:txBody>
          <a:bodyPr wrap="square" lIns="0" rIns="0" tIns="0" bIns="0" anchor="t">
            <a:spAutoFit/>
          </a:bodyPr>
          <a:lstStyle/>
          <a:p>
            <a:pPr algn="ctr">
              <a:lnSpc>
                <a:spcPct val="105000"/>
              </a:lnSpc>
              <a:spcAft>
                <a:spcPts val="0"/>
              </a:spcAft>
            </a:pPr>
            <a:r>
              <a:rPr sz="1200" b="1" i="0">
                <a:solidFill>
                  <a:srgbClr val="64748B"/>
                </a:solidFill>
                <a:latin typeface="Calibri"/>
              </a:rPr>
              <a:t>S12</a:t>
            </a:r>
          </a:p>
        </p:txBody>
      </p:sp>
      <p:sp>
        <p:nvSpPr>
          <p:cNvPr id="13" name="TextBox 12"/>
          <p:cNvSpPr txBox="1"/>
          <p:nvPr/>
        </p:nvSpPr>
        <p:spPr>
          <a:xfrm>
            <a:off x="6583680" y="2057400"/>
            <a:ext cx="822960" cy="274320"/>
          </a:xfrm>
          <a:prstGeom prst="rect">
            <a:avLst/>
          </a:prstGeom>
          <a:noFill/>
        </p:spPr>
        <p:txBody>
          <a:bodyPr wrap="square" lIns="0" rIns="0" tIns="0" bIns="0" anchor="t">
            <a:spAutoFit/>
          </a:bodyPr>
          <a:lstStyle/>
          <a:p>
            <a:pPr algn="ctr">
              <a:lnSpc>
                <a:spcPct val="105000"/>
              </a:lnSpc>
              <a:spcAft>
                <a:spcPts val="0"/>
              </a:spcAft>
            </a:pPr>
            <a:r>
              <a:rPr sz="1200" b="1" i="0">
                <a:solidFill>
                  <a:srgbClr val="64748B"/>
                </a:solidFill>
                <a:latin typeface="Calibri"/>
              </a:rPr>
              <a:t>S13</a:t>
            </a:r>
          </a:p>
        </p:txBody>
      </p:sp>
      <p:sp>
        <p:nvSpPr>
          <p:cNvPr id="14" name="TextBox 13"/>
          <p:cNvSpPr txBox="1"/>
          <p:nvPr/>
        </p:nvSpPr>
        <p:spPr>
          <a:xfrm>
            <a:off x="7406640" y="2057400"/>
            <a:ext cx="822960" cy="274320"/>
          </a:xfrm>
          <a:prstGeom prst="rect">
            <a:avLst/>
          </a:prstGeom>
          <a:noFill/>
        </p:spPr>
        <p:txBody>
          <a:bodyPr wrap="square" lIns="0" rIns="0" tIns="0" bIns="0" anchor="t">
            <a:spAutoFit/>
          </a:bodyPr>
          <a:lstStyle/>
          <a:p>
            <a:pPr algn="ctr">
              <a:lnSpc>
                <a:spcPct val="105000"/>
              </a:lnSpc>
              <a:spcAft>
                <a:spcPts val="0"/>
              </a:spcAft>
            </a:pPr>
            <a:r>
              <a:rPr sz="1200" b="1" i="0">
                <a:solidFill>
                  <a:srgbClr val="64748B"/>
                </a:solidFill>
                <a:latin typeface="Calibri"/>
              </a:rPr>
              <a:t>S14</a:t>
            </a:r>
          </a:p>
        </p:txBody>
      </p:sp>
      <p:sp>
        <p:nvSpPr>
          <p:cNvPr id="15" name="TextBox 14"/>
          <p:cNvSpPr txBox="1"/>
          <p:nvPr/>
        </p:nvSpPr>
        <p:spPr>
          <a:xfrm>
            <a:off x="8229600" y="2057400"/>
            <a:ext cx="822960" cy="274320"/>
          </a:xfrm>
          <a:prstGeom prst="rect">
            <a:avLst/>
          </a:prstGeom>
          <a:noFill/>
        </p:spPr>
        <p:txBody>
          <a:bodyPr wrap="square" lIns="0" rIns="0" tIns="0" bIns="0" anchor="t">
            <a:spAutoFit/>
          </a:bodyPr>
          <a:lstStyle/>
          <a:p>
            <a:pPr algn="ctr">
              <a:lnSpc>
                <a:spcPct val="105000"/>
              </a:lnSpc>
              <a:spcAft>
                <a:spcPts val="0"/>
              </a:spcAft>
            </a:pPr>
            <a:r>
              <a:rPr sz="1200" b="1" i="0">
                <a:solidFill>
                  <a:srgbClr val="64748B"/>
                </a:solidFill>
                <a:latin typeface="Calibri"/>
              </a:rPr>
              <a:t>S15</a:t>
            </a:r>
          </a:p>
        </p:txBody>
      </p:sp>
      <p:sp>
        <p:nvSpPr>
          <p:cNvPr id="16" name="TextBox 15"/>
          <p:cNvSpPr txBox="1"/>
          <p:nvPr/>
        </p:nvSpPr>
        <p:spPr>
          <a:xfrm>
            <a:off x="9052560" y="2057400"/>
            <a:ext cx="822960" cy="274320"/>
          </a:xfrm>
          <a:prstGeom prst="rect">
            <a:avLst/>
          </a:prstGeom>
          <a:noFill/>
        </p:spPr>
        <p:txBody>
          <a:bodyPr wrap="square" lIns="0" rIns="0" tIns="0" bIns="0" anchor="t">
            <a:spAutoFit/>
          </a:bodyPr>
          <a:lstStyle/>
          <a:p>
            <a:pPr algn="ctr">
              <a:lnSpc>
                <a:spcPct val="105000"/>
              </a:lnSpc>
              <a:spcAft>
                <a:spcPts val="0"/>
              </a:spcAft>
            </a:pPr>
            <a:r>
              <a:rPr sz="1200" b="1" i="0">
                <a:solidFill>
                  <a:srgbClr val="64748B"/>
                </a:solidFill>
                <a:latin typeface="Calibri"/>
              </a:rPr>
              <a:t>S16</a:t>
            </a:r>
          </a:p>
        </p:txBody>
      </p:sp>
      <p:sp>
        <p:nvSpPr>
          <p:cNvPr id="17" name="TextBox 16"/>
          <p:cNvSpPr txBox="1"/>
          <p:nvPr/>
        </p:nvSpPr>
        <p:spPr>
          <a:xfrm>
            <a:off x="9875520" y="2057400"/>
            <a:ext cx="822960" cy="274320"/>
          </a:xfrm>
          <a:prstGeom prst="rect">
            <a:avLst/>
          </a:prstGeom>
          <a:noFill/>
        </p:spPr>
        <p:txBody>
          <a:bodyPr wrap="square" lIns="0" rIns="0" tIns="0" bIns="0" anchor="t">
            <a:spAutoFit/>
          </a:bodyPr>
          <a:lstStyle/>
          <a:p>
            <a:pPr algn="ctr">
              <a:lnSpc>
                <a:spcPct val="105000"/>
              </a:lnSpc>
              <a:spcAft>
                <a:spcPts val="0"/>
              </a:spcAft>
            </a:pPr>
            <a:r>
              <a:rPr sz="1200" b="1" i="0">
                <a:solidFill>
                  <a:srgbClr val="64748B"/>
                </a:solidFill>
                <a:latin typeface="Calibri"/>
              </a:rPr>
              <a:t>S17</a:t>
            </a:r>
          </a:p>
        </p:txBody>
      </p:sp>
      <p:sp>
        <p:nvSpPr>
          <p:cNvPr id="18" name="TextBox 17"/>
          <p:cNvSpPr txBox="1"/>
          <p:nvPr/>
        </p:nvSpPr>
        <p:spPr>
          <a:xfrm>
            <a:off x="10698480" y="2057400"/>
            <a:ext cx="822960" cy="274320"/>
          </a:xfrm>
          <a:prstGeom prst="rect">
            <a:avLst/>
          </a:prstGeom>
          <a:noFill/>
        </p:spPr>
        <p:txBody>
          <a:bodyPr wrap="square" lIns="0" rIns="0" tIns="0" bIns="0" anchor="t">
            <a:spAutoFit/>
          </a:bodyPr>
          <a:lstStyle/>
          <a:p>
            <a:pPr algn="ctr">
              <a:lnSpc>
                <a:spcPct val="105000"/>
              </a:lnSpc>
              <a:spcAft>
                <a:spcPts val="0"/>
              </a:spcAft>
            </a:pPr>
            <a:r>
              <a:rPr sz="1200" b="1" i="0">
                <a:solidFill>
                  <a:srgbClr val="64748B"/>
                </a:solidFill>
                <a:latin typeface="Calibri"/>
              </a:rPr>
              <a:t>S18</a:t>
            </a:r>
          </a:p>
        </p:txBody>
      </p:sp>
      <p:sp>
        <p:nvSpPr>
          <p:cNvPr id="19" name="TextBox 18"/>
          <p:cNvSpPr txBox="1"/>
          <p:nvPr/>
        </p:nvSpPr>
        <p:spPr>
          <a:xfrm>
            <a:off x="548640" y="2606040"/>
            <a:ext cx="2651760" cy="320040"/>
          </a:xfrm>
          <a:prstGeom prst="rect">
            <a:avLst/>
          </a:prstGeom>
          <a:noFill/>
        </p:spPr>
        <p:txBody>
          <a:bodyPr wrap="square" lIns="0" rIns="0" tIns="0" bIns="0" anchor="t">
            <a:spAutoFit/>
          </a:bodyPr>
          <a:lstStyle/>
          <a:p>
            <a:pPr algn="l">
              <a:lnSpc>
                <a:spcPct val="105000"/>
              </a:lnSpc>
              <a:spcAft>
                <a:spcPts val="0"/>
              </a:spcAft>
            </a:pPr>
            <a:r>
              <a:rPr sz="1300" b="1" i="0">
                <a:solidFill>
                  <a:srgbClr val="1E1B4B"/>
                </a:solidFill>
                <a:latin typeface="Calibri"/>
              </a:rPr>
              <a:t>Documentación y repositorio</a:t>
            </a:r>
          </a:p>
        </p:txBody>
      </p:sp>
      <p:sp>
        <p:nvSpPr>
          <p:cNvPr id="20" name="Rounded Rectangle 19"/>
          <p:cNvSpPr/>
          <p:nvPr/>
        </p:nvSpPr>
        <p:spPr>
          <a:xfrm>
            <a:off x="3291840" y="2532888"/>
            <a:ext cx="8229600" cy="457200"/>
          </a:xfrm>
          <a:prstGeom prst="roundRect">
            <a:avLst>
              <a:gd name="adj" fmla="val 10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3328416" y="2587752"/>
            <a:ext cx="1572768" cy="347472"/>
          </a:xfrm>
          <a:prstGeom prst="roundRect">
            <a:avLst>
              <a:gd name="adj" fmla="val 30000"/>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3172968"/>
            <a:ext cx="2651760" cy="320040"/>
          </a:xfrm>
          <a:prstGeom prst="rect">
            <a:avLst/>
          </a:prstGeom>
          <a:noFill/>
        </p:spPr>
        <p:txBody>
          <a:bodyPr wrap="square" lIns="0" rIns="0" tIns="0" bIns="0" anchor="t">
            <a:spAutoFit/>
          </a:bodyPr>
          <a:lstStyle/>
          <a:p>
            <a:pPr algn="l">
              <a:lnSpc>
                <a:spcPct val="105000"/>
              </a:lnSpc>
              <a:spcAft>
                <a:spcPts val="0"/>
              </a:spcAft>
            </a:pPr>
            <a:r>
              <a:rPr sz="1300" b="1" i="0">
                <a:solidFill>
                  <a:srgbClr val="1E1B4B"/>
                </a:solidFill>
                <a:latin typeface="Calibri"/>
              </a:rPr>
              <a:t>Pruebas y mejoras</a:t>
            </a:r>
          </a:p>
        </p:txBody>
      </p:sp>
      <p:sp>
        <p:nvSpPr>
          <p:cNvPr id="23" name="Rounded Rectangle 22"/>
          <p:cNvSpPr/>
          <p:nvPr/>
        </p:nvSpPr>
        <p:spPr>
          <a:xfrm>
            <a:off x="3291840" y="3099816"/>
            <a:ext cx="8229600" cy="457200"/>
          </a:xfrm>
          <a:prstGeom prst="roundRect">
            <a:avLst>
              <a:gd name="adj" fmla="val 10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3328416" y="3154680"/>
            <a:ext cx="3218688" cy="347472"/>
          </a:xfrm>
          <a:prstGeom prst="roundRect">
            <a:avLst>
              <a:gd name="adj" fmla="val 30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3739896"/>
            <a:ext cx="2651760" cy="320040"/>
          </a:xfrm>
          <a:prstGeom prst="rect">
            <a:avLst/>
          </a:prstGeom>
          <a:noFill/>
        </p:spPr>
        <p:txBody>
          <a:bodyPr wrap="square" lIns="0" rIns="0" tIns="0" bIns="0" anchor="t">
            <a:spAutoFit/>
          </a:bodyPr>
          <a:lstStyle/>
          <a:p>
            <a:pPr algn="l">
              <a:lnSpc>
                <a:spcPct val="105000"/>
              </a:lnSpc>
              <a:spcAft>
                <a:spcPts val="0"/>
              </a:spcAft>
            </a:pPr>
            <a:r>
              <a:rPr sz="1300" b="1" i="0">
                <a:solidFill>
                  <a:srgbClr val="1E1B4B"/>
                </a:solidFill>
                <a:latin typeface="Calibri"/>
              </a:rPr>
              <a:t>Docker y manual</a:t>
            </a:r>
          </a:p>
        </p:txBody>
      </p:sp>
      <p:sp>
        <p:nvSpPr>
          <p:cNvPr id="26" name="Rounded Rectangle 25"/>
          <p:cNvSpPr/>
          <p:nvPr/>
        </p:nvSpPr>
        <p:spPr>
          <a:xfrm>
            <a:off x="3291840" y="3666744"/>
            <a:ext cx="8229600" cy="457200"/>
          </a:xfrm>
          <a:prstGeom prst="roundRect">
            <a:avLst>
              <a:gd name="adj" fmla="val 10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4151376" y="3721608"/>
            <a:ext cx="1572768" cy="347472"/>
          </a:xfrm>
          <a:prstGeom prst="roundRect">
            <a:avLst>
              <a:gd name="adj" fmla="val 30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4306823"/>
            <a:ext cx="2651760" cy="320040"/>
          </a:xfrm>
          <a:prstGeom prst="rect">
            <a:avLst/>
          </a:prstGeom>
          <a:noFill/>
        </p:spPr>
        <p:txBody>
          <a:bodyPr wrap="square" lIns="0" rIns="0" tIns="0" bIns="0" anchor="t">
            <a:spAutoFit/>
          </a:bodyPr>
          <a:lstStyle/>
          <a:p>
            <a:pPr algn="l">
              <a:lnSpc>
                <a:spcPct val="105000"/>
              </a:lnSpc>
              <a:spcAft>
                <a:spcPts val="0"/>
              </a:spcAft>
            </a:pPr>
            <a:r>
              <a:rPr sz="1300" b="1" i="0">
                <a:solidFill>
                  <a:srgbClr val="1E1B4B"/>
                </a:solidFill>
                <a:latin typeface="Calibri"/>
              </a:rPr>
              <a:t>Piloto con la empresa</a:t>
            </a:r>
          </a:p>
        </p:txBody>
      </p:sp>
      <p:sp>
        <p:nvSpPr>
          <p:cNvPr id="29" name="Rounded Rectangle 28"/>
          <p:cNvSpPr/>
          <p:nvPr/>
        </p:nvSpPr>
        <p:spPr>
          <a:xfrm>
            <a:off x="3291840" y="4233671"/>
            <a:ext cx="8229600" cy="457200"/>
          </a:xfrm>
          <a:prstGeom prst="roundRect">
            <a:avLst>
              <a:gd name="adj" fmla="val 10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328416" y="4288536"/>
            <a:ext cx="4864608" cy="347472"/>
          </a:xfrm>
          <a:prstGeom prst="roundRect">
            <a:avLst>
              <a:gd name="adj" fmla="val 30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4873752"/>
            <a:ext cx="2651760" cy="320040"/>
          </a:xfrm>
          <a:prstGeom prst="rect">
            <a:avLst/>
          </a:prstGeom>
          <a:noFill/>
        </p:spPr>
        <p:txBody>
          <a:bodyPr wrap="square" lIns="0" rIns="0" tIns="0" bIns="0" anchor="t">
            <a:spAutoFit/>
          </a:bodyPr>
          <a:lstStyle/>
          <a:p>
            <a:pPr algn="l">
              <a:lnSpc>
                <a:spcPct val="105000"/>
              </a:lnSpc>
              <a:spcAft>
                <a:spcPts val="0"/>
              </a:spcAft>
            </a:pPr>
            <a:r>
              <a:rPr sz="1300" b="1" i="0">
                <a:solidFill>
                  <a:srgbClr val="1E1B4B"/>
                </a:solidFill>
                <a:latin typeface="Calibri"/>
              </a:rPr>
              <a:t>Informe de avance</a:t>
            </a:r>
          </a:p>
        </p:txBody>
      </p:sp>
      <p:sp>
        <p:nvSpPr>
          <p:cNvPr id="32" name="Rounded Rectangle 31"/>
          <p:cNvSpPr/>
          <p:nvPr/>
        </p:nvSpPr>
        <p:spPr>
          <a:xfrm>
            <a:off x="3291840" y="4800600"/>
            <a:ext cx="8229600" cy="457200"/>
          </a:xfrm>
          <a:prstGeom prst="roundRect">
            <a:avLst>
              <a:gd name="adj" fmla="val 10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4974336" y="4855464"/>
            <a:ext cx="4041648" cy="347472"/>
          </a:xfrm>
          <a:prstGeom prst="roundRect">
            <a:avLst>
              <a:gd name="adj" fmla="val 30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 y="5440679"/>
            <a:ext cx="2651760" cy="320040"/>
          </a:xfrm>
          <a:prstGeom prst="rect">
            <a:avLst/>
          </a:prstGeom>
          <a:noFill/>
        </p:spPr>
        <p:txBody>
          <a:bodyPr wrap="square" lIns="0" rIns="0" tIns="0" bIns="0" anchor="t">
            <a:spAutoFit/>
          </a:bodyPr>
          <a:lstStyle/>
          <a:p>
            <a:pPr algn="l">
              <a:lnSpc>
                <a:spcPct val="105000"/>
              </a:lnSpc>
              <a:spcAft>
                <a:spcPts val="0"/>
              </a:spcAft>
            </a:pPr>
            <a:r>
              <a:rPr sz="1300" b="1" i="0">
                <a:solidFill>
                  <a:srgbClr val="1E1B4B"/>
                </a:solidFill>
                <a:latin typeface="Calibri"/>
              </a:rPr>
              <a:t>Informe final y presentación</a:t>
            </a:r>
          </a:p>
        </p:txBody>
      </p:sp>
      <p:sp>
        <p:nvSpPr>
          <p:cNvPr id="35" name="Rounded Rectangle 34"/>
          <p:cNvSpPr/>
          <p:nvPr/>
        </p:nvSpPr>
        <p:spPr>
          <a:xfrm>
            <a:off x="3291840" y="5367527"/>
            <a:ext cx="8229600" cy="457200"/>
          </a:xfrm>
          <a:prstGeom prst="roundRect">
            <a:avLst>
              <a:gd name="adj" fmla="val 10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089136" y="5422392"/>
            <a:ext cx="2395728" cy="347472"/>
          </a:xfrm>
          <a:prstGeom prst="roundRect">
            <a:avLst>
              <a:gd name="adj" fmla="val 30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7" name="Connector 36"/>
          <p:cNvCxnSpPr/>
          <p:nvPr/>
        </p:nvCxnSpPr>
        <p:spPr>
          <a:xfrm>
            <a:off x="3703320" y="2377440"/>
            <a:ext cx="0" cy="3566160"/>
          </a:xfrm>
          <a:prstGeom prst="line">
            <a:avLst/>
          </a:prstGeom>
          <a:ln w="19050">
            <a:solidFill>
              <a:srgbClr val="E11D48"/>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3794759" y="5943600"/>
            <a:ext cx="3200400" cy="274320"/>
          </a:xfrm>
          <a:prstGeom prst="rect">
            <a:avLst/>
          </a:prstGeom>
          <a:noFill/>
        </p:spPr>
        <p:txBody>
          <a:bodyPr wrap="square" lIns="0" rIns="0" tIns="0" bIns="0" anchor="t">
            <a:spAutoFit/>
          </a:bodyPr>
          <a:lstStyle/>
          <a:p>
            <a:pPr algn="l">
              <a:lnSpc>
                <a:spcPct val="105000"/>
              </a:lnSpc>
              <a:spcAft>
                <a:spcPts val="0"/>
              </a:spcAft>
            </a:pPr>
            <a:r>
              <a:rPr sz="1100" b="1" i="0">
                <a:solidFill>
                  <a:srgbClr val="E11D48"/>
                </a:solidFill>
                <a:latin typeface="Calibri"/>
              </a:rPr>
              <a:t>S9: estamos aquí</a:t>
            </a:r>
          </a:p>
        </p:txBody>
      </p:sp>
      <p:sp>
        <p:nvSpPr>
          <p:cNvPr id="39" name="TextBox 38"/>
          <p:cNvSpPr txBox="1"/>
          <p:nvPr/>
        </p:nvSpPr>
        <p:spPr>
          <a:xfrm>
            <a:off x="548640" y="5943600"/>
            <a:ext cx="2651760" cy="274320"/>
          </a:xfrm>
          <a:prstGeom prst="rect">
            <a:avLst/>
          </a:prstGeom>
          <a:noFill/>
        </p:spPr>
        <p:txBody>
          <a:bodyPr wrap="square" lIns="0" rIns="0" tIns="0" bIns="0" anchor="t">
            <a:spAutoFit/>
          </a:bodyPr>
          <a:lstStyle/>
          <a:p>
            <a:pPr algn="l">
              <a:lnSpc>
                <a:spcPct val="105000"/>
              </a:lnSpc>
              <a:spcAft>
                <a:spcPts val="0"/>
              </a:spcAft>
            </a:pPr>
            <a:r>
              <a:rPr sz="1100" b="0" i="0">
                <a:solidFill>
                  <a:srgbClr val="64748B"/>
                </a:solidFill>
                <a:latin typeface="Calibri"/>
              </a:rPr>
              <a:t>Verde: casi terminado</a:t>
            </a:r>
          </a:p>
        </p:txBody>
      </p:sp>
      <p:sp>
        <p:nvSpPr>
          <p:cNvPr id="40" name="TextBox 39"/>
          <p:cNvSpPr txBox="1"/>
          <p:nvPr/>
        </p:nvSpPr>
        <p:spPr>
          <a:xfrm>
            <a:off x="548640" y="6446520"/>
            <a:ext cx="8229600" cy="274320"/>
          </a:xfrm>
          <a:prstGeom prst="rect">
            <a:avLst/>
          </a:prstGeom>
          <a:noFill/>
        </p:spPr>
        <p:txBody>
          <a:bodyPr wrap="square" lIns="0" rIns="0" tIns="0" bIns="0" anchor="t">
            <a:spAutoFit/>
          </a:bodyPr>
          <a:lstStyle/>
          <a:p>
            <a:pPr algn="l">
              <a:lnSpc>
                <a:spcPct val="105000"/>
              </a:lnSpc>
              <a:spcAft>
                <a:spcPts val="0"/>
              </a:spcAft>
            </a:pPr>
            <a:r>
              <a:rPr sz="1000" b="0" i="0">
                <a:solidFill>
                  <a:srgbClr val="64748B"/>
                </a:solidFill>
                <a:latin typeface="Calibri"/>
              </a:rPr>
              <a:t>Revela · Avance y roadmap · Yair Hamir Costa Pérez</a:t>
            </a:r>
          </a:p>
        </p:txBody>
      </p:sp>
      <p:sp>
        <p:nvSpPr>
          <p:cNvPr id="41" name="TextBox 40"/>
          <p:cNvSpPr txBox="1"/>
          <p:nvPr/>
        </p:nvSpPr>
        <p:spPr>
          <a:xfrm>
            <a:off x="10698480" y="6446520"/>
            <a:ext cx="941832" cy="274320"/>
          </a:xfrm>
          <a:prstGeom prst="rect">
            <a:avLst/>
          </a:prstGeom>
          <a:noFill/>
        </p:spPr>
        <p:txBody>
          <a:bodyPr wrap="square" lIns="0" rIns="0" tIns="0" bIns="0" anchor="t">
            <a:spAutoFit/>
          </a:bodyPr>
          <a:lstStyle/>
          <a:p>
            <a:pPr algn="r">
              <a:lnSpc>
                <a:spcPct val="105000"/>
              </a:lnSpc>
              <a:spcAft>
                <a:spcPts val="0"/>
              </a:spcAft>
            </a:pPr>
            <a:r>
              <a:rPr sz="1000" b="0" i="0">
                <a:solidFill>
                  <a:srgbClr val="64748B"/>
                </a:solidFill>
                <a:latin typeface="Calibri"/>
              </a:rPr>
              <a:t>6 / 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0972800" cy="320040"/>
          </a:xfrm>
          <a:prstGeom prst="rect">
            <a:avLst/>
          </a:prstGeom>
          <a:noFill/>
        </p:spPr>
        <p:txBody>
          <a:bodyPr wrap="square" lIns="0" rIns="0" tIns="0" bIns="0" anchor="t">
            <a:spAutoFit/>
          </a:bodyPr>
          <a:lstStyle/>
          <a:p>
            <a:pPr algn="l">
              <a:lnSpc>
                <a:spcPct val="105000"/>
              </a:lnSpc>
              <a:spcAft>
                <a:spcPts val="0"/>
              </a:spcAft>
            </a:pPr>
            <a:r>
              <a:rPr sz="1400" b="1" i="0">
                <a:solidFill>
                  <a:srgbClr val="E11D48"/>
                </a:solidFill>
                <a:latin typeface="Calibri"/>
              </a:rPr>
              <a:t>DÓNDE VER TODO</a:t>
            </a:r>
          </a:p>
        </p:txBody>
      </p:sp>
      <p:sp>
        <p:nvSpPr>
          <p:cNvPr id="3" name="TextBox 2"/>
          <p:cNvSpPr txBox="1"/>
          <p:nvPr/>
        </p:nvSpPr>
        <p:spPr>
          <a:xfrm>
            <a:off x="548640" y="713232"/>
            <a:ext cx="11064240" cy="731520"/>
          </a:xfrm>
          <a:prstGeom prst="rect">
            <a:avLst/>
          </a:prstGeom>
          <a:noFill/>
        </p:spPr>
        <p:txBody>
          <a:bodyPr wrap="square" lIns="0" rIns="0" tIns="0" bIns="0" anchor="t">
            <a:spAutoFit/>
          </a:bodyPr>
          <a:lstStyle/>
          <a:p>
            <a:pPr algn="l">
              <a:lnSpc>
                <a:spcPct val="105000"/>
              </a:lnSpc>
              <a:spcAft>
                <a:spcPts val="0"/>
              </a:spcAft>
            </a:pPr>
            <a:r>
              <a:rPr sz="3000" b="1" i="0">
                <a:solidFill>
                  <a:srgbClr val="1E1B4B"/>
                </a:solidFill>
                <a:latin typeface="Calibri"/>
              </a:rPr>
              <a:t>Todo está en el repositorio y en la demo</a:t>
            </a:r>
          </a:p>
        </p:txBody>
      </p:sp>
      <p:sp>
        <p:nvSpPr>
          <p:cNvPr id="4" name="Rounded Rectangle 3"/>
          <p:cNvSpPr/>
          <p:nvPr/>
        </p:nvSpPr>
        <p:spPr>
          <a:xfrm>
            <a:off x="548640" y="1691640"/>
            <a:ext cx="5449824" cy="201168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74519"/>
            <a:ext cx="4846320" cy="365760"/>
          </a:xfrm>
          <a:prstGeom prst="rect">
            <a:avLst/>
          </a:prstGeom>
          <a:noFill/>
        </p:spPr>
        <p:txBody>
          <a:bodyPr wrap="square" lIns="0" rIns="0" tIns="0" bIns="0" anchor="t">
            <a:spAutoFit/>
          </a:bodyPr>
          <a:lstStyle/>
          <a:p>
            <a:pPr algn="l">
              <a:lnSpc>
                <a:spcPct val="105000"/>
              </a:lnSpc>
              <a:spcAft>
                <a:spcPts val="0"/>
              </a:spcAft>
            </a:pPr>
            <a:r>
              <a:rPr sz="2000" b="1" i="0">
                <a:solidFill>
                  <a:srgbClr val="3730A3"/>
                </a:solidFill>
                <a:latin typeface="Calibri"/>
              </a:rPr>
              <a:t>GitHub</a:t>
            </a:r>
          </a:p>
        </p:txBody>
      </p:sp>
      <p:sp>
        <p:nvSpPr>
          <p:cNvPr id="6" name="TextBox 5"/>
          <p:cNvSpPr txBox="1"/>
          <p:nvPr/>
        </p:nvSpPr>
        <p:spPr>
          <a:xfrm>
            <a:off x="868680" y="2377440"/>
            <a:ext cx="4846320" cy="365760"/>
          </a:xfrm>
          <a:prstGeom prst="rect">
            <a:avLst/>
          </a:prstGeom>
          <a:noFill/>
        </p:spPr>
        <p:txBody>
          <a:bodyPr wrap="square" lIns="0" rIns="0" tIns="0" bIns="0" anchor="t">
            <a:spAutoFit/>
          </a:bodyPr>
          <a:lstStyle/>
          <a:p>
            <a:pPr algn="l">
              <a:lnSpc>
                <a:spcPct val="105000"/>
              </a:lnSpc>
              <a:spcAft>
                <a:spcPts val="0"/>
              </a:spcAft>
            </a:pPr>
            <a:r>
              <a:rPr sz="1500" b="1" i="0">
                <a:solidFill>
                  <a:srgbClr val="1E1B4B"/>
                </a:solidFill>
                <a:latin typeface="Calibri"/>
              </a:rPr>
              <a:t>github.com/YairCosta/CAPSTONE_003D</a:t>
            </a:r>
          </a:p>
        </p:txBody>
      </p:sp>
      <p:sp>
        <p:nvSpPr>
          <p:cNvPr id="7" name="TextBox 6"/>
          <p:cNvSpPr txBox="1"/>
          <p:nvPr/>
        </p:nvSpPr>
        <p:spPr>
          <a:xfrm>
            <a:off x="868680" y="2880360"/>
            <a:ext cx="4846320" cy="731520"/>
          </a:xfrm>
          <a:prstGeom prst="rect">
            <a:avLst/>
          </a:prstGeom>
          <a:noFill/>
        </p:spPr>
        <p:txBody>
          <a:bodyPr wrap="square" lIns="0" rIns="0" tIns="0" bIns="0" anchor="t">
            <a:spAutoFit/>
          </a:bodyPr>
          <a:lstStyle/>
          <a:p>
            <a:pPr algn="l">
              <a:lnSpc>
                <a:spcPct val="105000"/>
              </a:lnSpc>
              <a:spcAft>
                <a:spcPts val="0"/>
              </a:spcAft>
            </a:pPr>
            <a:r>
              <a:rPr sz="1300" b="0" i="0">
                <a:solidFill>
                  <a:srgbClr val="64748B"/>
                </a:solidFill>
                <a:latin typeface="Calibri"/>
              </a:rPr>
              <a:t>Código, documentación en Word y Markdown e historial de cambios</a:t>
            </a:r>
          </a:p>
        </p:txBody>
      </p:sp>
      <p:sp>
        <p:nvSpPr>
          <p:cNvPr id="8" name="Rounded Rectangle 7"/>
          <p:cNvSpPr/>
          <p:nvPr/>
        </p:nvSpPr>
        <p:spPr>
          <a:xfrm>
            <a:off x="6190488" y="1691640"/>
            <a:ext cx="5449824" cy="201168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10527" y="1874519"/>
            <a:ext cx="4846320" cy="365760"/>
          </a:xfrm>
          <a:prstGeom prst="rect">
            <a:avLst/>
          </a:prstGeom>
          <a:noFill/>
        </p:spPr>
        <p:txBody>
          <a:bodyPr wrap="square" lIns="0" rIns="0" tIns="0" bIns="0" anchor="t">
            <a:spAutoFit/>
          </a:bodyPr>
          <a:lstStyle/>
          <a:p>
            <a:pPr algn="l">
              <a:lnSpc>
                <a:spcPct val="105000"/>
              </a:lnSpc>
              <a:spcAft>
                <a:spcPts val="0"/>
              </a:spcAft>
            </a:pPr>
            <a:r>
              <a:rPr sz="2000" b="1" i="0">
                <a:solidFill>
                  <a:srgbClr val="3730A3"/>
                </a:solidFill>
                <a:latin typeface="Calibri"/>
              </a:rPr>
              <a:t>Demo pública</a:t>
            </a:r>
          </a:p>
        </p:txBody>
      </p:sp>
      <p:sp>
        <p:nvSpPr>
          <p:cNvPr id="10" name="TextBox 9"/>
          <p:cNvSpPr txBox="1"/>
          <p:nvPr/>
        </p:nvSpPr>
        <p:spPr>
          <a:xfrm>
            <a:off x="6510527" y="2377440"/>
            <a:ext cx="4846320" cy="365760"/>
          </a:xfrm>
          <a:prstGeom prst="rect">
            <a:avLst/>
          </a:prstGeom>
          <a:noFill/>
        </p:spPr>
        <p:txBody>
          <a:bodyPr wrap="square" lIns="0" rIns="0" tIns="0" bIns="0" anchor="t">
            <a:spAutoFit/>
          </a:bodyPr>
          <a:lstStyle/>
          <a:p>
            <a:pPr algn="l">
              <a:lnSpc>
                <a:spcPct val="105000"/>
              </a:lnSpc>
              <a:spcAft>
                <a:spcPts val="0"/>
              </a:spcAft>
            </a:pPr>
            <a:r>
              <a:rPr sz="1500" b="1" i="0">
                <a:solidFill>
                  <a:srgbClr val="1E1B4B"/>
                </a:solidFill>
                <a:latin typeface="Calibri"/>
              </a:rPr>
              <a:t>revela-henna.vercel.app/?demo</a:t>
            </a:r>
          </a:p>
        </p:txBody>
      </p:sp>
      <p:sp>
        <p:nvSpPr>
          <p:cNvPr id="11" name="TextBox 10"/>
          <p:cNvSpPr txBox="1"/>
          <p:nvPr/>
        </p:nvSpPr>
        <p:spPr>
          <a:xfrm>
            <a:off x="6510527" y="2880360"/>
            <a:ext cx="4846320" cy="731520"/>
          </a:xfrm>
          <a:prstGeom prst="rect">
            <a:avLst/>
          </a:prstGeom>
          <a:noFill/>
        </p:spPr>
        <p:txBody>
          <a:bodyPr wrap="square" lIns="0" rIns="0" tIns="0" bIns="0" anchor="t">
            <a:spAutoFit/>
          </a:bodyPr>
          <a:lstStyle/>
          <a:p>
            <a:pPr algn="l">
              <a:lnSpc>
                <a:spcPct val="105000"/>
              </a:lnSpc>
              <a:spcAft>
                <a:spcPts val="0"/>
              </a:spcAft>
            </a:pPr>
            <a:r>
              <a:rPr sz="1300" b="0" i="0">
                <a:solidFill>
                  <a:srgbClr val="64748B"/>
                </a:solidFill>
                <a:latin typeface="Calibri"/>
              </a:rPr>
              <a:t>Se abre sin cuenta, con datos ficticios</a:t>
            </a:r>
          </a:p>
        </p:txBody>
      </p:sp>
      <p:sp>
        <p:nvSpPr>
          <p:cNvPr id="12" name="Rounded Rectangle 11"/>
          <p:cNvSpPr/>
          <p:nvPr/>
        </p:nvSpPr>
        <p:spPr>
          <a:xfrm>
            <a:off x="548640" y="4023360"/>
            <a:ext cx="5449824" cy="2103120"/>
          </a:xfrm>
          <a:prstGeom prst="roundRect">
            <a:avLst>
              <a:gd name="adj" fmla="val 6000"/>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160520"/>
            <a:ext cx="4937760" cy="365760"/>
          </a:xfrm>
          <a:prstGeom prst="rect">
            <a:avLst/>
          </a:prstGeom>
          <a:noFill/>
        </p:spPr>
        <p:txBody>
          <a:bodyPr wrap="square" lIns="0" rIns="0" tIns="0" bIns="0" anchor="t">
            <a:spAutoFit/>
          </a:bodyPr>
          <a:lstStyle/>
          <a:p>
            <a:pPr algn="l">
              <a:lnSpc>
                <a:spcPct val="105000"/>
              </a:lnSpc>
              <a:spcAft>
                <a:spcPts val="0"/>
              </a:spcAft>
            </a:pPr>
            <a:r>
              <a:rPr sz="1800" b="1" i="0">
                <a:solidFill>
                  <a:srgbClr val="166534"/>
                </a:solidFill>
                <a:latin typeface="Calibri"/>
              </a:rPr>
              <a:t>Ya está</a:t>
            </a:r>
          </a:p>
        </p:txBody>
      </p:sp>
      <p:sp>
        <p:nvSpPr>
          <p:cNvPr id="14" name="TextBox 13"/>
          <p:cNvSpPr txBox="1"/>
          <p:nvPr/>
        </p:nvSpPr>
        <p:spPr>
          <a:xfrm>
            <a:off x="822960" y="4617720"/>
            <a:ext cx="4937760" cy="1463040"/>
          </a:xfrm>
          <a:prstGeom prst="rect">
            <a:avLst/>
          </a:prstGeom>
          <a:noFill/>
        </p:spPr>
        <p:txBody>
          <a:bodyPr wrap="square" lIns="0" rIns="0" tIns="0" bIns="0" anchor="t">
            <a:spAutoFit/>
          </a:bodyPr>
          <a:lstStyle/>
          <a:p>
            <a:pPr algn="l">
              <a:lnSpc>
                <a:spcPct val="105000"/>
              </a:lnSpc>
              <a:spcAft>
                <a:spcPts val="600"/>
              </a:spcAft>
            </a:pPr>
            <a:r>
              <a:rPr sz="1400" b="0" i="0">
                <a:solidFill>
                  <a:srgbClr val="1E293B"/>
                </a:solidFill>
                <a:latin typeface="Calibri"/>
              </a:rPr>
              <a:t>Producto publicado y probado (727 pruebas)</a:t>
            </a:r>
          </a:p>
          <a:p>
            <a:pPr algn="l">
              <a:lnSpc>
                <a:spcPct val="105000"/>
              </a:lnSpc>
              <a:spcAft>
                <a:spcPts val="600"/>
              </a:spcAft>
            </a:pPr>
            <a:r>
              <a:rPr sz="1400" b="0" i="0">
                <a:solidFill>
                  <a:srgbClr val="1E293B"/>
                </a:solidFill>
                <a:latin typeface="Calibri"/>
              </a:rPr>
              <a:t>Documentación de la metodología</a:t>
            </a:r>
          </a:p>
          <a:p>
            <a:pPr algn="l">
              <a:lnSpc>
                <a:spcPct val="105000"/>
              </a:lnSpc>
              <a:spcAft>
                <a:spcPts val="600"/>
              </a:spcAft>
            </a:pPr>
            <a:r>
              <a:rPr sz="1400" b="0" i="0">
                <a:solidFill>
                  <a:srgbClr val="1E293B"/>
                </a:solidFill>
                <a:latin typeface="Calibri"/>
              </a:rPr>
              <a:t>16 de 20 historias hechas</a:t>
            </a:r>
          </a:p>
        </p:txBody>
      </p:sp>
      <p:sp>
        <p:nvSpPr>
          <p:cNvPr id="15" name="Rounded Rectangle 14"/>
          <p:cNvSpPr/>
          <p:nvPr/>
        </p:nvSpPr>
        <p:spPr>
          <a:xfrm>
            <a:off x="6190488" y="4023360"/>
            <a:ext cx="5449824" cy="2103120"/>
          </a:xfrm>
          <a:prstGeom prst="roundRect">
            <a:avLst>
              <a:gd name="adj" fmla="val 6000"/>
            </a:avLst>
          </a:prstGeom>
          <a:solidFill>
            <a:srgbClr val="FFF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808" y="4160520"/>
            <a:ext cx="4937760" cy="365760"/>
          </a:xfrm>
          <a:prstGeom prst="rect">
            <a:avLst/>
          </a:prstGeom>
          <a:noFill/>
        </p:spPr>
        <p:txBody>
          <a:bodyPr wrap="square" lIns="0" rIns="0" tIns="0" bIns="0" anchor="t">
            <a:spAutoFit/>
          </a:bodyPr>
          <a:lstStyle/>
          <a:p>
            <a:pPr algn="l">
              <a:lnSpc>
                <a:spcPct val="105000"/>
              </a:lnSpc>
              <a:spcAft>
                <a:spcPts val="0"/>
              </a:spcAft>
            </a:pPr>
            <a:r>
              <a:rPr sz="1800" b="1" i="0">
                <a:solidFill>
                  <a:srgbClr val="D97706"/>
                </a:solidFill>
                <a:latin typeface="Calibri"/>
              </a:rPr>
              <a:t>Falta</a:t>
            </a:r>
          </a:p>
        </p:txBody>
      </p:sp>
      <p:sp>
        <p:nvSpPr>
          <p:cNvPr id="17" name="TextBox 16"/>
          <p:cNvSpPr txBox="1"/>
          <p:nvPr/>
        </p:nvSpPr>
        <p:spPr>
          <a:xfrm>
            <a:off x="6464808" y="4617720"/>
            <a:ext cx="4937760" cy="1463040"/>
          </a:xfrm>
          <a:prstGeom prst="rect">
            <a:avLst/>
          </a:prstGeom>
          <a:noFill/>
        </p:spPr>
        <p:txBody>
          <a:bodyPr wrap="square" lIns="0" rIns="0" tIns="0" bIns="0" anchor="t">
            <a:spAutoFit/>
          </a:bodyPr>
          <a:lstStyle/>
          <a:p>
            <a:pPr algn="l">
              <a:lnSpc>
                <a:spcPct val="105000"/>
              </a:lnSpc>
              <a:spcAft>
                <a:spcPts val="600"/>
              </a:spcAft>
            </a:pPr>
            <a:r>
              <a:rPr sz="1400" b="0" i="0">
                <a:solidFill>
                  <a:srgbClr val="1E293B"/>
                </a:solidFill>
                <a:latin typeface="Calibri"/>
              </a:rPr>
              <a:t>Docker y piloto con la empresa</a:t>
            </a:r>
          </a:p>
          <a:p>
            <a:pPr algn="l">
              <a:lnSpc>
                <a:spcPct val="105000"/>
              </a:lnSpc>
              <a:spcAft>
                <a:spcPts val="600"/>
              </a:spcAft>
            </a:pPr>
            <a:r>
              <a:rPr sz="1400" b="0" i="0">
                <a:solidFill>
                  <a:srgbClr val="1E293B"/>
                </a:solidFill>
                <a:latin typeface="Calibri"/>
              </a:rPr>
              <a:t>Cierre de la iteración 5</a:t>
            </a:r>
          </a:p>
          <a:p>
            <a:pPr algn="l">
              <a:lnSpc>
                <a:spcPct val="105000"/>
              </a:lnSpc>
              <a:spcAft>
                <a:spcPts val="600"/>
              </a:spcAft>
            </a:pPr>
            <a:r>
              <a:rPr sz="1400" b="0" i="0">
                <a:solidFill>
                  <a:srgbClr val="1E293B"/>
                </a:solidFill>
                <a:latin typeface="Calibri"/>
              </a:rPr>
              <a:t>Informe de avance e informe final</a:t>
            </a:r>
          </a:p>
        </p:txBody>
      </p:sp>
      <p:sp>
        <p:nvSpPr>
          <p:cNvPr id="18" name="TextBox 17"/>
          <p:cNvSpPr txBox="1"/>
          <p:nvPr/>
        </p:nvSpPr>
        <p:spPr>
          <a:xfrm>
            <a:off x="548640" y="6446520"/>
            <a:ext cx="8229600" cy="274320"/>
          </a:xfrm>
          <a:prstGeom prst="rect">
            <a:avLst/>
          </a:prstGeom>
          <a:noFill/>
        </p:spPr>
        <p:txBody>
          <a:bodyPr wrap="square" lIns="0" rIns="0" tIns="0" bIns="0" anchor="t">
            <a:spAutoFit/>
          </a:bodyPr>
          <a:lstStyle/>
          <a:p>
            <a:pPr algn="l">
              <a:lnSpc>
                <a:spcPct val="105000"/>
              </a:lnSpc>
              <a:spcAft>
                <a:spcPts val="0"/>
              </a:spcAft>
            </a:pPr>
            <a:r>
              <a:rPr sz="1000" b="0" i="0">
                <a:solidFill>
                  <a:srgbClr val="64748B"/>
                </a:solidFill>
                <a:latin typeface="Calibri"/>
              </a:rPr>
              <a:t>Revela · Avance y roadmap · Yair Hamir Costa Pérez</a:t>
            </a:r>
          </a:p>
        </p:txBody>
      </p:sp>
      <p:sp>
        <p:nvSpPr>
          <p:cNvPr id="19" name="TextBox 18"/>
          <p:cNvSpPr txBox="1"/>
          <p:nvPr/>
        </p:nvSpPr>
        <p:spPr>
          <a:xfrm>
            <a:off x="10698480" y="6446520"/>
            <a:ext cx="941832" cy="274320"/>
          </a:xfrm>
          <a:prstGeom prst="rect">
            <a:avLst/>
          </a:prstGeom>
          <a:noFill/>
        </p:spPr>
        <p:txBody>
          <a:bodyPr wrap="square" lIns="0" rIns="0" tIns="0" bIns="0" anchor="t">
            <a:spAutoFit/>
          </a:bodyPr>
          <a:lstStyle/>
          <a:p>
            <a:pPr algn="r">
              <a:lnSpc>
                <a:spcPct val="105000"/>
              </a:lnSpc>
              <a:spcAft>
                <a:spcPts val="0"/>
              </a:spcAft>
            </a:pPr>
            <a:r>
              <a:rPr sz="1000" b="0" i="0">
                <a:solidFill>
                  <a:srgbClr val="64748B"/>
                </a:solidFill>
                <a:latin typeface="Calibri"/>
              </a:rPr>
              <a:t>7 / 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