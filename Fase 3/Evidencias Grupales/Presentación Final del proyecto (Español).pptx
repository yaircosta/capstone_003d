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spPr>
            <a:solidFill>
              <a:srgbClr val="4F46E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E1B4B"/>
                    </a:solidFill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Exportación a Excel</c:v>
                </c:pt>
                <c:pt idx="1">
                  <c:v>App compilada, sin secretos</c:v>
                </c:pt>
                <c:pt idx="2">
                  <c:v>Plan y vencimiento</c:v>
                </c:pt>
                <c:pt idx="3">
                  <c:v>App publicada en Vercel</c:v>
                </c:pt>
                <c:pt idx="4">
                  <c:v>Capa de datos</c:v>
                </c:pt>
                <c:pt idx="5">
                  <c:v>Asistente de IA</c:v>
                </c:pt>
                <c:pt idx="6">
                  <c:v>Aislamiento entre empresas</c:v>
                </c:pt>
                <c:pt idx="7">
                  <c:v>Migraciones: sintaxis y reglas</c:v>
                </c:pt>
                <c:pt idx="8">
                  <c:v>Punta a punta con Chrome</c:v>
                </c:pt>
                <c:pt idx="9">
                  <c:v>Base de datos real, con ataques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</c:v>
                </c:pt>
                <c:pt idx="1">
                  <c:v>8</c:v>
                </c:pt>
                <c:pt idx="2">
                  <c:v>12</c:v>
                </c:pt>
                <c:pt idx="3">
                  <c:v>27</c:v>
                </c:pt>
                <c:pt idx="4">
                  <c:v>57</c:v>
                </c:pt>
                <c:pt idx="5">
                  <c:v>72</c:v>
                </c:pt>
                <c:pt idx="6">
                  <c:v>78</c:v>
                </c:pt>
                <c:pt idx="7">
                  <c:v>107</c:v>
                </c:pt>
                <c:pt idx="8">
                  <c:v>148</c:v>
                </c:pt>
                <c:pt idx="9">
                  <c:v>335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67E-4BBB-8A98-50774BD078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200">
                <a:solidFill>
                  <a:srgbClr val="1E293B"/>
                </a:solidFill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24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días. Soy Yair Costa y presento Revela, un CRM para empresas que venden a otras empresas en América Latina: registra cada oportunidad de venta, la ubica en su zona y muestra dónde se vende y cuánto. Está publicado y en piloto con una empresa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Sigo el orden de la pauta de la Fase 3: relevancia, objetivos, metodología, desarrollo y evidencias, y cierro con las proyecciones y una demo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empresas que venden a otras empresas, en varios países, llevan sus ventas en planillas o en CRMs genéricos. No saben en qué zonas cierran ni qué productos rinden. Revela nace de ese problema y tiene un cliente real que lo está probando.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 el recorrido de un lead: se captura, se registra cada contacto, avanza por el pipeline y la gerencia ve los resultados por zona. Varias empresas lo usan a la vez sin mezclar sus datos, y funciona en los 19 países de América Latina.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 los mismos objetivos que declaré en la Fase 1, sin ajustes. Cada uno tiene su evidencia, que muestro en las diapositivas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Elegí Scrumban porque los requisitos cambiaron y hay un cliente que pide mejoras; cascada exige cerrarlos al inicio y Scrum puro está pensado para equipos. El tablero es público: github.com/users/YairCosta/projects/1.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Primero definí el problema y el alcance, después diseñé la arquitectura y los datos, construí el producto base y lo pasé a una base real publicada. Las pruebas acompañaron todo el desarrollo. Los únicos desfases fueron el inicio del piloto y la prueba del contenedor, una semana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que más ayudó fue tener un cliente real y pruebas automáticas desde temprano. La mayor dificultad fue trabajar solo: lo abordé priorizando el MVP. Los ajustes fueron agregados, no recortes: ninguna actividad de la Fase 1 se eliminó.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 tres piezas: el navegador, el servidor en Vercel y la base en Supabase. Lo importante es que las reglas viven en la base, no solo en la pantalla, porque el navegador se puede manipular. Las vistas 4+1 completas están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lead es el centro: lo alimentan su zona, su responsable, su etapa y su empresa cliente. Cada tabla tiene la marca de su empresa y la base, con seguridad por filas y triggers, impide que una empresa vea o toque datos de otra. Los cambios de la base son migraciones numeradas que nunca se editan.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MVP que comprometí en la Fase 1 está completo: 19 de 19 historias. Lo que falta son detalles de cierre: terminar el piloto con sus cifras y exigir en el sistema el límite de usuarios de cada plan. Pagos en línea y el teléfono quedaron fuera del MVP desde el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cambio pasa por estas pruebas antes de publicarse. Las más importantes son las 335 contra la base real: intentan leer y escribir datos de otra empresa desde una sesión real, y todas fallan como deben. Cada suite se corre con un comando, por ejemplo npm run test:db.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 capturas de la aplicación publicada, en su demo pública: cualquiera puede abrirla sin cuenta. Lo muestro en vivo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aplicación no depende de Vercel: el contenedor la levanta en cualquier equipo con Docker. El repositorio está ordenado por fases y el código va en la carpeta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piloto es con una empresa de servicios de TI que opera en Chile y Perú. Empezó el 12-10. Aquí presento lo que mido y con qué metas; las cifras salen del panel de uso, que solo muestra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 las cuatro competencias de especialidad que declaré en la Fase 1. Cada una se puede verificar en el repositorio o en la aplicación publicada.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Revela tiene planes y precios publicados en su landing. Lo siguiente es cobrar en línea y llevarlo al teléfono. En lo personal, quiero emprender, y este proyecto es exactamente ese recorrido.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Ahora lo muestro en vivo. Entro desde la landing con el botón Probar la demo. Si falla la conexión, uso las capturas de la diapositiva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cerrar: cumplí los objetivos, el producto está publicado y probado, y está listo para operar con clientes. Quedo atento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17320"/>
            <a:ext cx="329184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544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A5B4FC"/>
                </a:solidFill>
                <a:latin typeface="Calibri"/>
              </a:rPr>
              <a:t>PROYECTO APT · CAPSTONE APT122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6675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1" i="0" dirty="0" err="1">
                <a:solidFill>
                  <a:srgbClr val="FFFFFF"/>
                </a:solidFill>
                <a:latin typeface="Calibri"/>
              </a:rPr>
              <a:t>Revela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: CRM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multiempresa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inteligencia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geográfica</a:t>
            </a:r>
            <a:endParaRPr sz="4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676656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 i="0" dirty="0">
                <a:solidFill>
                  <a:srgbClr val="C7D2FE"/>
                </a:solidFill>
                <a:latin typeface="Calibri"/>
              </a:rPr>
              <a:t>Defensa del </a:t>
            </a:r>
            <a:r>
              <a:rPr sz="2200" b="0" i="0" dirty="0" err="1">
                <a:solidFill>
                  <a:srgbClr val="C7D2FE"/>
                </a:solidFill>
                <a:latin typeface="Calibri"/>
              </a:rPr>
              <a:t>proyecto</a:t>
            </a:r>
            <a:r>
              <a:rPr lang="es-ES" sz="2200" dirty="0">
                <a:solidFill>
                  <a:srgbClr val="C7D2FE"/>
                </a:solidFill>
                <a:latin typeface="Calibri"/>
              </a:rPr>
              <a:t>.</a:t>
            </a:r>
            <a:endParaRPr sz="2200" b="0" i="0" dirty="0">
              <a:solidFill>
                <a:srgbClr val="C7D2F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E0E7FF"/>
                </a:solidFill>
                <a:latin typeface="Calibri"/>
              </a:rPr>
              <a:t>Yair Hamir Costa Pérez · Ingeniería en Informática · sección 003D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A5B4FC"/>
                </a:solidFill>
                <a:latin typeface="Calibri"/>
              </a:rPr>
              <a:t>Duoc UC, Sede Antonio Varas · Docente: Rocío Contreras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QUÉ VOY A PRESENTAR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El proyecto, de punta a punta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49824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911095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Relevancia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1284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El problema y a quién le sirve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645920"/>
            <a:ext cx="5449824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46520" y="1911095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7" y="18288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7" y="221284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El general y los seis específicos, con su estado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52928"/>
            <a:ext cx="5449824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" y="3118104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3580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Metodología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1985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Scrumban y por qué es pertinente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852928"/>
            <a:ext cx="5449824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46520" y="3118104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03580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Desarrollo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7" y="341985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Etapas, dificultades, facilitadores y ajustes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59936"/>
            <a:ext cx="5449824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" y="4325112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Evidencias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26864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Arquitectura, datos, pruebas, aplicación y piloto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4059936"/>
            <a:ext cx="5449824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6520" y="4325112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4242816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Proyecciones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7" y="4626864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Calibri"/>
              </a:rPr>
              <a:t>Del producto y profesionales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58384"/>
            <a:ext cx="11091672" cy="74980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358384"/>
            <a:ext cx="1060704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 dirty="0">
                <a:solidFill>
                  <a:srgbClr val="3730A3"/>
                </a:solidFill>
                <a:latin typeface="Calibri"/>
              </a:rPr>
              <a:t>Al final: </a:t>
            </a:r>
            <a:r>
              <a:rPr sz="1500" b="0" i="0" dirty="0" err="1">
                <a:solidFill>
                  <a:srgbClr val="1E293B"/>
                </a:solidFill>
                <a:latin typeface="Calibri"/>
              </a:rPr>
              <a:t>una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E293B"/>
                </a:solidFill>
                <a:latin typeface="Calibri"/>
              </a:rPr>
              <a:t>demostración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vivo de la </a:t>
            </a:r>
            <a:r>
              <a:rPr sz="1500" b="0" i="0" dirty="0" err="1">
                <a:solidFill>
                  <a:srgbClr val="1E293B"/>
                </a:solidFill>
                <a:latin typeface="Calibri"/>
              </a:rPr>
              <a:t>aplicación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E293B"/>
                </a:solidFill>
                <a:latin typeface="Calibri"/>
              </a:rPr>
              <a:t>publicada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y las </a:t>
            </a:r>
            <a:r>
              <a:rPr sz="1500" b="0" i="0" dirty="0" err="1">
                <a:solidFill>
                  <a:srgbClr val="1E293B"/>
                </a:solidFill>
                <a:latin typeface="Calibri"/>
              </a:rPr>
              <a:t>preguntas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 de la </a:t>
            </a:r>
            <a:r>
              <a:rPr sz="1500" b="0" i="0" dirty="0" err="1">
                <a:solidFill>
                  <a:srgbClr val="1E293B"/>
                </a:solidFill>
                <a:latin typeface="Calibri"/>
              </a:rPr>
              <a:t>comisión</a:t>
            </a:r>
            <a:r>
              <a:rPr sz="1500" b="0" i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RELEVANCIA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Vender a otras empresas sin saber dónde se vende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40080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9222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1E1B4B"/>
                </a:solidFill>
                <a:latin typeface="Calibri"/>
              </a:rPr>
              <a:t>Ventas </a:t>
            </a:r>
            <a:r>
              <a:rPr sz="1800" b="1" i="0" dirty="0" err="1">
                <a:solidFill>
                  <a:srgbClr val="1E1B4B"/>
                </a:solidFill>
                <a:latin typeface="Calibri"/>
              </a:rPr>
              <a:t>en</a:t>
            </a:r>
            <a:r>
              <a:rPr sz="180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E1B4B"/>
                </a:solidFill>
                <a:latin typeface="Calibri"/>
              </a:rPr>
              <a:t>planillas</a:t>
            </a:r>
            <a:endParaRPr sz="1800" b="1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215798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o en CRMs genéricos que no muestran dónde se cierra cada negocio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640080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2990088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8950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Sin mirada por zona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5526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no se sabe qué zonas ni qué productos rinden más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640080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8678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Varios países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5254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cada país nombra sus zonas a su manera y usa su moneda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59"/>
            <a:ext cx="640080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5184648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084064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Seguimiento que se pierde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49823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los contactos y compromisos quedan repartidos entre personas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645920"/>
            <a:ext cx="4416552" cy="16916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1783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Para quién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19456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Equipos comerciales de empresas B2B de América Latina: un gerente y varios vendedores que trabajan en terreno.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520440"/>
            <a:ext cx="4416552" cy="2551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60" y="3657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Por qué es relevante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11480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Es un problema real, con un cliente real: una empresa de servicios TI de Chile y Perú aceptó pilotearlo.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Exige el trabajo completo de un ingeniero: datos, seguridad, software, pruebas y publicación.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Revela: del lead al mapa de lo que se vende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642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Captura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02996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a mano o con el asistente de IA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5603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Contacto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9260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llamadas, correos y agenda de seguimiento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483863"/>
            <a:ext cx="566928" cy="56692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45643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822191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7 etapas, de nuevo a ganado o perdido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35254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Resultados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71830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KPI y mapa por zona para la gerencia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50" b="1">
                <a:solidFill>
                  <a:srgbClr val="3730A3"/>
                </a:solidFill>
                <a:latin typeface="Calibri"/>
              </a:rPr>
              <a:t>Multiempresa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34924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50" b="1">
                <a:solidFill>
                  <a:srgbClr val="3730A3"/>
                </a:solidFill>
                <a:latin typeface="Calibri"/>
              </a:rPr>
              <a:t>19 países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88152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50" b="1">
                <a:solidFill>
                  <a:srgbClr val="3730A3"/>
                </a:solidFill>
                <a:latin typeface="Calibri"/>
              </a:rPr>
              <a:t>Tres perfiles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788152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50" b="1">
                <a:solidFill>
                  <a:srgbClr val="3730A3"/>
                </a:solidFill>
                <a:latin typeface="Calibri"/>
              </a:rPr>
              <a:t>Demo pública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1829942"/>
            <a:ext cx="6565392" cy="41582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3_Mapa_por_zo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1903094"/>
            <a:ext cx="6419088" cy="401193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Los seis objetivos específicos, cumplidos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9848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3730A3"/>
                </a:solidFill>
                <a:latin typeface="Calibri"/>
              </a:rPr>
              <a:t>Objetivo general. </a:t>
            </a:r>
            <a:r>
              <a:rPr sz="1350" b="0" i="0">
                <a:solidFill>
                  <a:srgbClr val="1E293B"/>
                </a:solidFill>
                <a:latin typeface="Calibri"/>
              </a:rPr>
              <a:t>Desarrollar y publicar Revela, un CRM SaaS multiempresa con inteligencia geográfica, que permita a equipos comerciales de América Latina capturar leads, ubicarlos por zona y medir qué se vende y dónde, protegiendo los datos personales.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3232" y="2615184"/>
            <a:ext cx="347472" cy="34747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1460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1E1B4B"/>
                </a:solidFill>
                <a:latin typeface="Calibri"/>
              </a:rPr>
              <a:t>Gestionar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el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ciclo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del lead: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captura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, pipeline de 7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etapas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contactos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y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5146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Pipeline y Registro de contacto en la app publicada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0" y="26334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Cumplido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36392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3232" y="3236976"/>
            <a:ext cx="347472" cy="34747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36392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1E1B4B"/>
                </a:solidFill>
                <a:latin typeface="Calibri"/>
              </a:rPr>
              <a:t>Ubicar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cada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lead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en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su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zona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oficial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y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mostrar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indicadores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por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zona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13639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14.489 zonas de 19 países; mapa y KPI por zona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325526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Cumplido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58184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3232" y="3858768"/>
            <a:ext cx="347472" cy="34747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58184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1E1B4B"/>
                </a:solidFill>
                <a:latin typeface="Calibri"/>
              </a:rPr>
              <a:t>Aislar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por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completo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los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datos de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cada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empresa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con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seguridad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en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la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758184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Reglas en la base; 335 pruebas contra ella, con ataques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38770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Cumplido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79976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3232" y="4480560"/>
            <a:ext cx="347472" cy="34747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379976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1E1B4B"/>
                </a:solidFill>
                <a:latin typeface="Calibri"/>
              </a:rPr>
              <a:t>Proteger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los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datos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personales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de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cada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379976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Origen del dato obligatorio y solicitudes que bloquean el lead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44988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Cumplido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01768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3232" y="5102352"/>
            <a:ext cx="347472" cy="34747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001768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1E1B4B"/>
                </a:solidFill>
                <a:latin typeface="Calibri"/>
              </a:rPr>
              <a:t>Incorporar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un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asistente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de IA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acotado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, con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presupuesto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mensual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por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empresa</a:t>
            </a:r>
            <a:endParaRPr sz="1350" b="1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69480" y="50017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No puede borrar nada; el servidor aplica el presupuesto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5120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Cumplido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13232" y="5724144"/>
            <a:ext cx="347472" cy="34747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62356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50" b="1" i="0" dirty="0" err="1">
                <a:solidFill>
                  <a:srgbClr val="1E1B4B"/>
                </a:solidFill>
                <a:latin typeface="Calibri"/>
              </a:rPr>
              <a:t>Publicar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medir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la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calidad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con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pruebas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y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dejarla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portable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en</a:t>
            </a:r>
            <a:r>
              <a:rPr sz="1350" b="1" i="0" dirty="0">
                <a:solidFill>
                  <a:srgbClr val="1E1B4B"/>
                </a:solidFill>
                <a:latin typeface="Calibri"/>
              </a:rPr>
              <a:t> un </a:t>
            </a:r>
            <a:r>
              <a:rPr sz="1350" b="1" i="0" dirty="0" err="1">
                <a:solidFill>
                  <a:srgbClr val="1E1B4B"/>
                </a:solidFill>
                <a:latin typeface="Calibri"/>
              </a:rPr>
              <a:t>contenedor</a:t>
            </a:r>
            <a:endParaRPr sz="1350" b="1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69480" y="56235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Publicada con demo; 851 pruebas; Docker probado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0" y="574243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Calibri"/>
              </a:rPr>
              <a:t>Cumplido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Scrumban, con tablero público en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8582" y="1554480"/>
            <a:ext cx="5489474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blero-rec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34" y="1627632"/>
            <a:ext cx="5343170" cy="45628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16002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Por qué es pertinente</a:t>
            </a:r>
          </a:p>
        </p:txBody>
      </p:sp>
      <p:sp>
        <p:nvSpPr>
          <p:cNvPr id="7" name="Oval 6"/>
          <p:cNvSpPr/>
          <p:nvPr/>
        </p:nvSpPr>
        <p:spPr>
          <a:xfrm>
            <a:off x="7178040" y="2148840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9792" y="20574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Los requisitos cambiaron durante el proyecto</a:t>
            </a:r>
          </a:p>
        </p:txBody>
      </p:sp>
      <p:sp>
        <p:nvSpPr>
          <p:cNvPr id="9" name="Oval 8"/>
          <p:cNvSpPr/>
          <p:nvPr/>
        </p:nvSpPr>
        <p:spPr>
          <a:xfrm>
            <a:off x="7178040" y="2606040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9792" y="25146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Un cliente piloto que pide mejoras reales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3063240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79792" y="29718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Proyecto individual: Scrum puro es para equipos</a:t>
            </a:r>
          </a:p>
        </p:txBody>
      </p:sp>
      <p:sp>
        <p:nvSpPr>
          <p:cNvPr id="13" name="Oval 12"/>
          <p:cNvSpPr/>
          <p:nvPr/>
        </p:nvSpPr>
        <p:spPr>
          <a:xfrm>
            <a:off x="7178040" y="3520440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9792" y="342900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Cada cambio publicado deja la app funcionando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97763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Cómo se aplica</a:t>
            </a:r>
          </a:p>
        </p:txBody>
      </p:sp>
      <p:sp>
        <p:nvSpPr>
          <p:cNvPr id="16" name="Oval 15"/>
          <p:cNvSpPr/>
          <p:nvPr/>
        </p:nvSpPr>
        <p:spPr>
          <a:xfrm>
            <a:off x="7178040" y="4526279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9792" y="443484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Backlog priorizado con historias de usuario</a:t>
            </a:r>
          </a:p>
        </p:txBody>
      </p:sp>
      <p:sp>
        <p:nvSpPr>
          <p:cNvPr id="18" name="Oval 17"/>
          <p:cNvSpPr/>
          <p:nvPr/>
        </p:nvSpPr>
        <p:spPr>
          <a:xfrm>
            <a:off x="7178040" y="4983479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9792" y="489204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Una tarea grande en curso a la vez</a:t>
            </a:r>
          </a:p>
        </p:txBody>
      </p:sp>
      <p:sp>
        <p:nvSpPr>
          <p:cNvPr id="20" name="Oval 19"/>
          <p:cNvSpPr/>
          <p:nvPr/>
        </p:nvSpPr>
        <p:spPr>
          <a:xfrm>
            <a:off x="7178040" y="5440679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9792" y="534924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Definition of Done y retrospectiva por iteración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5788152"/>
            <a:ext cx="4462272" cy="4572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578815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3730A3"/>
                </a:solidFill>
                <a:latin typeface="Calibri"/>
              </a:rPr>
              <a:t>36 tarjetas: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26 hechas, 2 en curso y 8 pendientes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Las etapas, semana a semana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75887" y="1572768"/>
            <a:ext cx="1737360" cy="292608"/>
          </a:xfrm>
          <a:prstGeom prst="roundRect">
            <a:avLst>
              <a:gd name="adj" fmla="val 20000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0" y="1572768"/>
            <a:ext cx="177393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E1B4B"/>
                </a:solidFill>
                <a:latin typeface="Calibri"/>
              </a:rPr>
              <a:t>Fase 1 · Definición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9824" y="1572768"/>
            <a:ext cx="4841748" cy="292608"/>
          </a:xfrm>
          <a:prstGeom prst="roundRect">
            <a:avLst>
              <a:gd name="adj" fmla="val 20000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31536" y="1572768"/>
            <a:ext cx="487832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E1B4B"/>
                </a:solidFill>
                <a:latin typeface="Calibri"/>
              </a:rPr>
              <a:t>Fase 2 · Desarrollo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28148" y="1572768"/>
            <a:ext cx="1293876" cy="292608"/>
          </a:xfrm>
          <a:prstGeom prst="roundRect">
            <a:avLst>
              <a:gd name="adj" fmla="val 20000"/>
            </a:avLst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09860" y="1572768"/>
            <a:ext cx="133045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E1B4B"/>
                </a:solidFill>
                <a:latin typeface="Calibri"/>
              </a:rPr>
              <a:t>Fase 3 · Presentación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1084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8052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 dirty="0">
                <a:solidFill>
                  <a:srgbClr val="64748B"/>
                </a:solidFill>
                <a:latin typeface="Calibri"/>
              </a:rPr>
              <a:t>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5020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8956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5924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 dirty="0">
                <a:solidFill>
                  <a:srgbClr val="64748B"/>
                </a:solidFill>
                <a:latin typeface="Calibri"/>
              </a:rPr>
              <a:t>S13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2892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 dirty="0">
                <a:solidFill>
                  <a:srgbClr val="64748B"/>
                </a:solidFill>
                <a:latin typeface="Calibri"/>
              </a:rPr>
              <a:t>S14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9860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53344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96828" y="1920240"/>
            <a:ext cx="4434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Calibri"/>
              </a:rPr>
              <a:t>S18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185416"/>
            <a:ext cx="11091672" cy="3474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2212848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Definición del problema y alcance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2249424"/>
            <a:ext cx="832104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2564891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Arquitectura y modelo de datos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15484" y="2601468"/>
            <a:ext cx="832104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8640" y="2889504"/>
            <a:ext cx="11091672" cy="3474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2916936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Producto 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2953512"/>
            <a:ext cx="2162556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326898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Base real, publicación y seguridad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89420" y="3305556"/>
            <a:ext cx="832104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48640" y="3593592"/>
            <a:ext cx="11091672" cy="3474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621024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Asistente de IA con control de costo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32904" y="3657600"/>
            <a:ext cx="388620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3973068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Pruebas y mejoras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45936" y="4009644"/>
            <a:ext cx="2606040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48640" y="4297680"/>
            <a:ext cx="11091672" cy="3474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4325112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Documentación y tablero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32904" y="4361688"/>
            <a:ext cx="832104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4677156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Landing con precios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2904" y="4713732"/>
            <a:ext cx="388620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48640" y="5001768"/>
            <a:ext cx="11091672" cy="3474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5029200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Piloto con la empresa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76388" y="5065776"/>
            <a:ext cx="2162556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381244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Contenedor Docker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63356" y="5417820"/>
            <a:ext cx="388620" cy="219456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48640" y="5705855"/>
            <a:ext cx="11091672" cy="347472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5733288"/>
            <a:ext cx="2971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Informe final y presentación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93808" y="5769864"/>
            <a:ext cx="1719072" cy="219456"/>
          </a:xfrm>
          <a:prstGeom prst="roundRect">
            <a:avLst>
              <a:gd name="adj" fmla="val 4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6108192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Ajustes al plan: el piloto partió en la semana 10 (estaba en la 9) y el contenedor se probó en la 12 (estaba en la 11).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Dificultades, facilitadores y ajustes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93592" cy="461772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5803D"/>
                </a:solidFill>
                <a:latin typeface="Calibri"/>
              </a:rPr>
              <a:t>Facilitadores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Una empresa piloto real que da retroalimentación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73552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2735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Servicios gestionados con publicación automática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15383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4215383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Pruebas automáticas que detectan errores antes de publicar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57216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5157216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La retroalimentación de la docente (arquitectura en UML)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00200"/>
            <a:ext cx="3593592" cy="46177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175564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B45309"/>
                </a:solidFill>
                <a:latin typeface="Calibri"/>
              </a:rPr>
              <a:t>Dificultades y cómo las abordé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331720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1" y="23317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Trabajo solo y entré tarde: prioricé el MVP e iteraciones cortas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273552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1" y="32735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Permisos de tablas: corregidos y cubiertos por pruebas de ataque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4215383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1" y="4215383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Costo de la IA: presupuesto mensual que aplica el servidor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5157216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1" y="5157216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Sin Docker en mi equipo: lo instalé y probé la imagen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600200"/>
            <a:ext cx="3593592" cy="46177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19" y="175564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3730A3"/>
                </a:solidFill>
                <a:latin typeface="Calibri"/>
              </a:rPr>
              <a:t>Ajustes al 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2331720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4192" y="23317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Arquitectura 4+1 con diagramas UML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9" y="3273552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3273552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Plan con fecha de término y suspensión automática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215383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4215383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Landing con planes, precios y video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9" y="5157216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5157216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Tablero Scrumban público y repositorio por fases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Dónde corre cada pieza (diagrama de despliegue UML)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13747"/>
            <a:ext cx="7635240" cy="399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ml-4-desplieg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86899"/>
            <a:ext cx="7488935" cy="3844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645920"/>
            <a:ext cx="322783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7556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3730A3"/>
                </a:solidFill>
                <a:latin typeface="Calibri"/>
              </a:rPr>
              <a:t>Navegador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075688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la app, en React y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788920"/>
            <a:ext cx="322783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28986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3730A3"/>
                </a:solidFill>
                <a:latin typeface="Calibri"/>
              </a:rPr>
              <a:t>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218687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entrega la app y el servidor, que usa las claves secretas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931920"/>
            <a:ext cx="322783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40416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3730A3"/>
                </a:solidFill>
                <a:latin typeface="Calibri"/>
              </a:rPr>
              <a:t>Supabase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361688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base PostgreSQL con PostGIS, login y claves cifradas; impone las reglas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074920"/>
            <a:ext cx="322783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518464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3730A3"/>
                </a:solidFill>
                <a:latin typeface="Calibri"/>
              </a:rPr>
              <a:t>Servicios externos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504688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IA, tipos de cambio y mapa: solo los consulta el servidor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· MODELO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El lead al centro, y cada dato con su empresa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88489"/>
            <a:ext cx="7635240" cy="36411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ml-1-cl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61641"/>
            <a:ext cx="7488936" cy="34948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645920"/>
            <a:ext cx="322783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645920"/>
            <a:ext cx="1371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3730A3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1645920"/>
            <a:ext cx="16459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tablas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578608"/>
            <a:ext cx="322783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2578608"/>
            <a:ext cx="1371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3730A3"/>
                </a:solidFill>
                <a:latin typeface="Calibri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578608"/>
            <a:ext cx="16459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migraciones versionadas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511296"/>
            <a:ext cx="322783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3511296"/>
            <a:ext cx="1371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3730A3"/>
                </a:solidFill>
                <a:latin typeface="Calibri"/>
              </a:rPr>
              <a:t>14.489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3511296"/>
            <a:ext cx="16459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zonas oficiales de 19 países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480560"/>
            <a:ext cx="3227832" cy="17830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45720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1" i="0">
                <a:solidFill>
                  <a:srgbClr val="3730A3"/>
                </a:solidFill>
                <a:latin typeface="Calibri"/>
              </a:rPr>
              <a:t>Reglas en la base: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cada fila lleva su empresa, la seguridad por filas filtra lo que ve cada sesión y los triggers impiden mezclar empresas.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ESTADO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El MVP está terminado y publicado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291840" cy="461772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200" b="1" i="0">
                <a:solidFill>
                  <a:srgbClr val="FFFFFF"/>
                </a:solidFill>
                <a:latin typeface="Calibri"/>
              </a:rPr>
              <a:t>99 %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C7D2FE"/>
                </a:solidFill>
                <a:latin typeface="Calibri"/>
              </a:rPr>
              <a:t>del proyecto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840480"/>
            <a:ext cx="2651760" cy="182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A7F3D0"/>
                </a:solidFill>
                <a:latin typeface="Calibri"/>
              </a:rPr>
              <a:t>100 %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E0E7FF"/>
                </a:solidFill>
                <a:latin typeface="Calibri"/>
              </a:rPr>
              <a:t>del MVP comprometido en la Fase 1: 19 de 19 historias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600200"/>
            <a:ext cx="41605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06240" y="1737360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Funcionalidad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836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captura, contacto, pipeline, KPI y mapa, gerencia, auditoría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2221992"/>
            <a:ext cx="41605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06240" y="2359152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6771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Base de datos y 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0545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34 migraciones aplicadas en la base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2843784"/>
            <a:ext cx="41605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06240" y="2980944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88950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Publicación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272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en Vercel, con demo pública sin cuenta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465576"/>
            <a:ext cx="41605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206240" y="3602736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51129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Portabilidad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49039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imagen Docker construida y probada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4087368"/>
            <a:ext cx="41605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06240" y="4224528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330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Calidad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37083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851 pruebas automáticas, todas pasan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4800600"/>
            <a:ext cx="4160520" cy="14173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60" y="4873752"/>
            <a:ext cx="38404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 dirty="0" err="1">
                <a:solidFill>
                  <a:srgbClr val="3730A3"/>
                </a:solidFill>
                <a:latin typeface="Calibri"/>
              </a:rPr>
              <a:t>Cómo</a:t>
            </a:r>
            <a:r>
              <a:rPr sz="1200" b="1" i="0" dirty="0">
                <a:solidFill>
                  <a:srgbClr val="3730A3"/>
                </a:solidFill>
                <a:latin typeface="Calibri"/>
              </a:rPr>
              <a:t> se </a:t>
            </a:r>
            <a:r>
              <a:rPr sz="1200" b="1" i="0" dirty="0" err="1">
                <a:solidFill>
                  <a:srgbClr val="3730A3"/>
                </a:solidFill>
                <a:latin typeface="Calibri"/>
              </a:rPr>
              <a:t>mide</a:t>
            </a:r>
            <a:r>
              <a:rPr sz="1200" b="1" i="0" dirty="0">
                <a:solidFill>
                  <a:srgbClr val="3730A3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sobre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el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alcance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del MVP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declaré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la Fase 1 y el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tablero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. Lo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falta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no cambia lo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que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el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producto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hace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hoy.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200" y="1600200"/>
            <a:ext cx="3182112" cy="117043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171907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B45309"/>
                </a:solidFill>
                <a:latin typeface="Calibri"/>
              </a:rPr>
              <a:t>El 1 % que falta</a:t>
            </a:r>
          </a:p>
        </p:txBody>
      </p:sp>
      <p:sp>
        <p:nvSpPr>
          <p:cNvPr id="34" name="Oval 33"/>
          <p:cNvSpPr/>
          <p:nvPr/>
        </p:nvSpPr>
        <p:spPr>
          <a:xfrm>
            <a:off x="8641080" y="2286000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42832" y="2194560"/>
            <a:ext cx="25786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1E293B"/>
                </a:solidFill>
                <a:latin typeface="Calibri"/>
              </a:rPr>
              <a:t>Cerrar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 el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piloto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 y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medir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 sus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resultados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458200" y="3255264"/>
            <a:ext cx="3182112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41080" y="3374135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 dirty="0" err="1">
                <a:solidFill>
                  <a:srgbClr val="64748B"/>
                </a:solidFill>
                <a:latin typeface="Calibri"/>
              </a:rPr>
              <a:t>Trabajo</a:t>
            </a:r>
            <a:r>
              <a:rPr sz="1450" b="1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50" b="1" i="0" dirty="0" err="1">
                <a:solidFill>
                  <a:srgbClr val="64748B"/>
                </a:solidFill>
                <a:latin typeface="Calibri"/>
              </a:rPr>
              <a:t>futuro</a:t>
            </a:r>
            <a:r>
              <a:rPr sz="1450" b="1" i="0" dirty="0">
                <a:solidFill>
                  <a:srgbClr val="64748B"/>
                </a:solidFill>
                <a:latin typeface="Calibri"/>
              </a:rPr>
              <a:t> (fuera del MVP)</a:t>
            </a:r>
          </a:p>
        </p:txBody>
      </p:sp>
      <p:sp>
        <p:nvSpPr>
          <p:cNvPr id="40" name="Oval 39"/>
          <p:cNvSpPr/>
          <p:nvPr/>
        </p:nvSpPr>
        <p:spPr>
          <a:xfrm>
            <a:off x="8641080" y="394106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42832" y="3849624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Pagos en línea (Flow)</a:t>
            </a:r>
          </a:p>
        </p:txBody>
      </p:sp>
      <p:sp>
        <p:nvSpPr>
          <p:cNvPr id="42" name="Oval 41"/>
          <p:cNvSpPr/>
          <p:nvPr/>
        </p:nvSpPr>
        <p:spPr>
          <a:xfrm>
            <a:off x="8641080" y="444398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42832" y="4352544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 dirty="0">
                <a:solidFill>
                  <a:srgbClr val="1E293B"/>
                </a:solidFill>
                <a:latin typeface="Calibri"/>
              </a:rPr>
              <a:t>Uso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desde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 el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teléfono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641080" y="494690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42832" y="4855464"/>
            <a:ext cx="2578608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 dirty="0">
                <a:solidFill>
                  <a:srgbClr val="1E293B"/>
                </a:solidFill>
                <a:latin typeface="Calibri"/>
              </a:rPr>
              <a:t>KPI y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módulos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personalizables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por</a:t>
            </a:r>
            <a:r>
              <a:rPr sz="12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1E293B"/>
                </a:solidFill>
                <a:latin typeface="Calibri"/>
              </a:rPr>
              <a:t>perfil</a:t>
            </a:r>
            <a:endParaRPr sz="12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·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 dirty="0">
                <a:solidFill>
                  <a:srgbClr val="1E1B4B"/>
                </a:solidFill>
                <a:latin typeface="Calibri"/>
              </a:rPr>
              <a:t>851 </a:t>
            </a:r>
            <a:r>
              <a:rPr sz="3000" b="1" i="0" dirty="0" err="1">
                <a:solidFill>
                  <a:srgbClr val="1E1B4B"/>
                </a:solidFill>
                <a:latin typeface="Calibri"/>
              </a:rPr>
              <a:t>pruebas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E1B4B"/>
                </a:solidFill>
                <a:latin typeface="Calibri"/>
              </a:rPr>
              <a:t>automáticas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, </a:t>
            </a:r>
            <a:r>
              <a:rPr sz="3000" b="1" i="0" dirty="0" err="1">
                <a:solidFill>
                  <a:srgbClr val="1E1B4B"/>
                </a:solidFill>
                <a:latin typeface="Calibri"/>
              </a:rPr>
              <a:t>en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 10 suites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7498079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321040" y="1600200"/>
            <a:ext cx="3319272" cy="1874519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691640"/>
            <a:ext cx="33192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851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697480"/>
            <a:ext cx="29535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C7D2FE"/>
                </a:solidFill>
                <a:latin typeface="Calibri"/>
              </a:rPr>
              <a:t>pruebas automáticas, todas pasan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657600"/>
            <a:ext cx="3319272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3657600"/>
            <a:ext cx="777240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3730A3"/>
                </a:solidFill>
                <a:latin typeface="Calibri"/>
              </a:rPr>
              <a:t>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657600"/>
            <a:ext cx="2286000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contra la base real, incluidos ataques desde dentro; todo se deshace al terminar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526280"/>
            <a:ext cx="3319272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4526280"/>
            <a:ext cx="777240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3730A3"/>
                </a:solidFill>
                <a:latin typeface="Calibri"/>
              </a:rPr>
              <a:t>148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4526280"/>
            <a:ext cx="2286000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recorridos de punta a punta en Chrome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5394960"/>
            <a:ext cx="3319272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5394960"/>
            <a:ext cx="777240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3730A3"/>
                </a:solidFill>
                <a:latin typeface="Calibri"/>
              </a:rPr>
              <a:t>+6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5394960"/>
            <a:ext cx="2286000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Calibri"/>
              </a:rPr>
              <a:t>pruebas del contenedor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·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Publicada, con demo pública sin cuenta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1383" y="1554480"/>
            <a:ext cx="7081113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KPI_y_filt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" y="1627632"/>
            <a:ext cx="6934809" cy="43342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2828" y="1554480"/>
            <a:ext cx="3452774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980" y="1627632"/>
            <a:ext cx="3306470" cy="20665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02828" y="3822191"/>
            <a:ext cx="3452774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_Registro_de_contacto_y_agen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980" y="3895344"/>
            <a:ext cx="3306470" cy="20665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126480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3730A3"/>
                </a:solidFill>
                <a:latin typeface="Calibri"/>
              </a:rPr>
              <a:t>Izquierda: </a:t>
            </a:r>
            <a:r>
              <a:rPr sz="1150" b="0" i="0">
                <a:solidFill>
                  <a:srgbClr val="1E293B"/>
                </a:solidFill>
                <a:latin typeface="Calibri"/>
              </a:rPr>
              <a:t>KPI y filtros. </a:t>
            </a:r>
            <a:r>
              <a:rPr sz="1150" b="1" i="0">
                <a:solidFill>
                  <a:srgbClr val="3730A3"/>
                </a:solidFill>
                <a:latin typeface="Calibri"/>
              </a:rPr>
              <a:t>Derecha: </a:t>
            </a:r>
            <a:r>
              <a:rPr sz="1150" b="0" i="0">
                <a:solidFill>
                  <a:srgbClr val="1E293B"/>
                </a:solidFill>
                <a:latin typeface="Calibri"/>
              </a:rPr>
              <a:t>pipeline por etapas y registro de contacto con agenda. </a:t>
            </a:r>
            <a:r>
              <a:rPr sz="1150" b="0" i="0">
                <a:solidFill>
                  <a:srgbClr val="64748B"/>
                </a:solidFill>
                <a:latin typeface="Calibri"/>
              </a:rPr>
              <a:t>Demo pública con datos ficticios: revela-henna.vercel.app/?demo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· PORTABILIDAD Y 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La misma app corre fuera de Vercel, y todo queda en 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4977"/>
            <a:ext cx="7040880" cy="34394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cker-prueba-26-10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68129"/>
            <a:ext cx="6894576" cy="32931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12080"/>
            <a:ext cx="7040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3730A3"/>
                </a:solidFill>
                <a:latin typeface="Calibri"/>
              </a:rPr>
              <a:t>Contenedor Docker: </a:t>
            </a:r>
            <a:r>
              <a:rPr sz="1350" b="0" i="0">
                <a:solidFill>
                  <a:srgbClr val="1E293B"/>
                </a:solidFill>
                <a:latin typeface="Calibri"/>
              </a:rPr>
              <a:t>la imagen se construye en 49 s, pesa 474 MB, queda «healthy» y pasa sus 6 pruebas: app, API, demo y sin errores.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00200"/>
            <a:ext cx="3776472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Repositorio público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 dirty="0">
                <a:solidFill>
                  <a:srgbClr val="3730A3"/>
                </a:solidFill>
                <a:latin typeface="Calibri"/>
              </a:rPr>
              <a:t>github.com/</a:t>
            </a:r>
            <a:r>
              <a:rPr sz="1200" b="1" i="0" dirty="0" err="1">
                <a:solidFill>
                  <a:srgbClr val="3730A3"/>
                </a:solidFill>
                <a:latin typeface="Calibri"/>
              </a:rPr>
              <a:t>YairCosta</a:t>
            </a:r>
            <a:r>
              <a:rPr sz="1200" b="1" i="0" dirty="0">
                <a:solidFill>
                  <a:srgbClr val="3730A3"/>
                </a:solidFill>
                <a:latin typeface="Calibri"/>
              </a:rPr>
              <a:t>/CAPSTONE_003D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6517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3730A3"/>
                </a:solidFill>
                <a:latin typeface="Calibri"/>
              </a:rPr>
              <a:t>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65176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definición del proyecto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21868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3730A3"/>
                </a:solidFill>
                <a:latin typeface="Calibri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21868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documentación y evidencias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785615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3730A3"/>
                </a:solidFill>
                <a:latin typeface="Calibri"/>
              </a:rPr>
              <a:t>Fase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785615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presentación final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35254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150" b="1">
                <a:solidFill>
                  <a:srgbClr val="3730A3"/>
                </a:solidFill>
                <a:latin typeface="Calibri"/>
              </a:rPr>
              <a:t>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35254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código, migraciones y pruebas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983480"/>
            <a:ext cx="33832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README con los siete elementos pedidos e historial de commits: cada entrega se puede rastrear hasta su cambio.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· EL PILOTO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Una empresa real usando Revela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493776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La empresa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31720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240280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Servicios de TI, con operación en Chile y Perú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98648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807208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En piloto desde el 12-10-2026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65576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374136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El gerente ingresó y respondió la encuesta: nota 10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32504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941064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Pidió dos mejoras y se publicaron el mismo día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99432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507992"/>
            <a:ext cx="422452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Acompañamiento con guías de uso paso a paso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257800"/>
            <a:ext cx="4480560" cy="777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El panel de uso muestra solo números: nunca datos de los leads de la empresa.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627632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Qué se mide y con qué meta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103120"/>
            <a:ext cx="3803904" cy="438912"/>
          </a:xfrm>
          <a:prstGeom prst="roundRect">
            <a:avLst>
              <a:gd name="adj" fmla="val 6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210312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03120"/>
            <a:ext cx="2002536" cy="438912"/>
          </a:xfrm>
          <a:prstGeom prst="roundRect">
            <a:avLst>
              <a:gd name="adj" fmla="val 6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8360" y="2103120"/>
            <a:ext cx="176479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615184"/>
            <a:ext cx="380390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261518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Personas con acceso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615184"/>
            <a:ext cx="200253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8360" y="2615184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3 o más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3218688"/>
            <a:ext cx="3803904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97880" y="32186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Ingresos a la aplicación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3218688"/>
            <a:ext cx="2002536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38360" y="3218688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3 por semana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822191"/>
            <a:ext cx="380390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97880" y="3822191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Leads reales cargados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3822191"/>
            <a:ext cx="200253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38360" y="3822191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50 o más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4425696"/>
            <a:ext cx="3803904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97880" y="4425696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Respuestas de la encuesta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4425696"/>
            <a:ext cx="2002536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38360" y="4425696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3 o más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5029200"/>
            <a:ext cx="380390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97880" y="50292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Mejoras pedidas e incorporadas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5029200"/>
            <a:ext cx="2002536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38360" y="5029200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Calibri"/>
              </a:rPr>
              <a:t>3 o más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71500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Las metas son propuestas del autor para un piloto de cuatro semanas.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COMPETENCIAS DEL PERFIL DE EGRESO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Las cuatro competencias, con su evidencia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9167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603504" cy="60350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320040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Pruebas de certificación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645920"/>
            <a:ext cx="658368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851 pruebas automáticas en 10 suites, plan de pruebas, ataques contra la base real y prueba del contenedor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61488"/>
            <a:ext cx="1109167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2944368"/>
            <a:ext cx="603504" cy="60350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61488"/>
            <a:ext cx="320040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Gestión de proyectos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61488"/>
            <a:ext cx="658368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Scrumban con tablero público, Product y Sprint Backlog, Definition of Done, retrospectivas y acta de inicio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77056"/>
            <a:ext cx="1109167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4059936"/>
            <a:ext cx="603504" cy="60350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77056"/>
            <a:ext cx="320040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Modelos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877056"/>
            <a:ext cx="658368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29 tablas y 34 migraciones versionadas; aislamiento por empresa en la base; 14.489 zonas de 19 países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92624"/>
            <a:ext cx="1109167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5175504"/>
            <a:ext cx="603504" cy="60350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92624"/>
            <a:ext cx="320040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Desarrollo de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992624"/>
            <a:ext cx="6583680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App publicada (React, TypeScript, Vercel y Supabase), demo pública, asistente de IA y contenedor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PROYECCIONES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Del producto y profesionales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1E1B4B"/>
                </a:solidFill>
                <a:latin typeface="Calibri"/>
              </a:rPr>
              <a:t>Del producto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783080" cy="15087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6712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730A3"/>
                </a:solidFill>
                <a:latin typeface="Calibri"/>
              </a:rPr>
              <a:t>Nacional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1E1B4B"/>
                </a:solidFill>
                <a:latin typeface="Calibri"/>
              </a:rPr>
              <a:t>$20.000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al mes · 1 país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057400"/>
            <a:ext cx="1783080" cy="15087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78608" y="216712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730A3"/>
                </a:solidFill>
                <a:latin typeface="Calibri"/>
              </a:rPr>
              <a:t>Internacional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51460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1E1B4B"/>
                </a:solidFill>
                <a:latin typeface="Calibri"/>
              </a:rPr>
              <a:t>$60.000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3063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al mes · varios países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5" y="2057400"/>
            <a:ext cx="17830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71416" y="2167128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730A3"/>
                </a:solidFill>
                <a:latin typeface="Calibri"/>
              </a:rPr>
              <a:t>Usuario adicional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51460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1E1B4B"/>
                </a:solidFill>
                <a:latin typeface="Calibri"/>
              </a:rPr>
              <a:t>$3.000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30632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al 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E1B4B"/>
                </a:solidFill>
                <a:latin typeface="Calibri"/>
              </a:rPr>
              <a:t>Siguientes pasos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297679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206240"/>
            <a:ext cx="5276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Pagos en línea para contratar desde la landing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800599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4709159"/>
            <a:ext cx="5276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Uso cómodo desde el teléfono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03519"/>
            <a:ext cx="164592" cy="164592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5212079"/>
            <a:ext cx="52760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Más empresas en piloto a partir de la primera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600200"/>
            <a:ext cx="5102352" cy="461772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1783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Profesionales</a:t>
            </a:r>
          </a:p>
        </p:txBody>
      </p:sp>
      <p:sp>
        <p:nvSpPr>
          <p:cNvPr id="26" name="Oval 25"/>
          <p:cNvSpPr/>
          <p:nvPr/>
        </p:nvSpPr>
        <p:spPr>
          <a:xfrm>
            <a:off x="6812280" y="2395728"/>
            <a:ext cx="164592" cy="164592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14032" y="2304288"/>
            <a:ext cx="4343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E0E7FF"/>
                </a:solidFill>
                <a:latin typeface="Calibri"/>
              </a:rPr>
              <a:t>Mi interés es emprender: una empresa de servicios informáticos o de sistemas a medida.</a:t>
            </a:r>
          </a:p>
        </p:txBody>
      </p:sp>
      <p:sp>
        <p:nvSpPr>
          <p:cNvPr id="28" name="Oval 27"/>
          <p:cNvSpPr/>
          <p:nvPr/>
        </p:nvSpPr>
        <p:spPr>
          <a:xfrm>
            <a:off x="6812280" y="3310128"/>
            <a:ext cx="164592" cy="164592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14032" y="3218688"/>
            <a:ext cx="4343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E0E7FF"/>
                </a:solidFill>
                <a:latin typeface="Calibri"/>
              </a:rPr>
              <a:t>Revela recorre lo que haría al emprender: del problema y el cliente a diseñar, publicar y operar la solución.</a:t>
            </a:r>
          </a:p>
        </p:txBody>
      </p:sp>
      <p:sp>
        <p:nvSpPr>
          <p:cNvPr id="30" name="Oval 29"/>
          <p:cNvSpPr/>
          <p:nvPr/>
        </p:nvSpPr>
        <p:spPr>
          <a:xfrm>
            <a:off x="6812280" y="4224528"/>
            <a:ext cx="164592" cy="164592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14032" y="4133087"/>
            <a:ext cx="4343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E0E7FF"/>
                </a:solidFill>
                <a:latin typeface="Calibri"/>
              </a:rPr>
              <a:t>Queda como portafolio real y como base para un negocio por suscripción.</a:t>
            </a:r>
          </a:p>
        </p:txBody>
      </p:sp>
      <p:sp>
        <p:nvSpPr>
          <p:cNvPr id="32" name="Oval 31"/>
          <p:cNvSpPr/>
          <p:nvPr/>
        </p:nvSpPr>
        <p:spPr>
          <a:xfrm>
            <a:off x="6812280" y="5138928"/>
            <a:ext cx="164592" cy="164592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14032" y="5047488"/>
            <a:ext cx="4343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E0E7FF"/>
                </a:solidFill>
                <a:latin typeface="Calibri"/>
              </a:rPr>
              <a:t>Proyección: análisis predictivo de las zonas que mejor rinden.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DEMOSTRACIÓN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El recorrido de un lead, en la app publicada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4206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Entrar a la demo pública, sin cuenta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404872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04872"/>
            <a:ext cx="4206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Capturar un lead nuevo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18104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18104"/>
            <a:ext cx="4206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Registrar el primer contacto y agendar el seguimiento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831335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31335"/>
            <a:ext cx="4206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Avanzarlo en el 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544568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44568"/>
            <a:ext cx="4206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Ver los KPI y el mapa por zona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257800"/>
            <a:ext cx="512064" cy="51206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57800"/>
            <a:ext cx="4206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Cambiar a usuario base: qué ve y qué 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718500"/>
            <a:ext cx="5971031" cy="378675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14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791652"/>
            <a:ext cx="5824727" cy="364045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355080" y="5833872"/>
            <a:ext cx="4617720" cy="38404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400" b="1">
                <a:solidFill>
                  <a:srgbClr val="3730A3"/>
                </a:solidFill>
                <a:latin typeface="Calibri"/>
              </a:rPr>
              <a:t>revela-henna.vercel.app/?demo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Defensa del Proyecto APT · Yair Hamir Costa Pérez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A5B4FC"/>
                </a:solidFill>
                <a:latin typeface="Calibri"/>
              </a:rPr>
              <a:t>CONCLUSIONES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6304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Los seis objetivos específicos están cumplidos y el MVP está publicado.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3172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La calidad se demuestra con 851 pruebas automáticas, incluidos ataques contra la base real.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20040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Revela está listo para operar con clientes: planes, landing y una empresa real en piloto.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Gracias. ¿Preguntas?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A5B4FC"/>
                </a:solidFill>
                <a:latin typeface="Calibri"/>
              </a:rPr>
              <a:t>revela-henna.vercel.app · github.com/YairCosta/CAPSTONE_003D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2801</Words>
  <Application>Microsoft Office PowerPoint</Application>
  <PresentationFormat>Panorámica</PresentationFormat>
  <Paragraphs>364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yair costa perez</cp:lastModifiedBy>
  <cp:revision>2</cp:revision>
  <dcterms:created xsi:type="dcterms:W3CDTF">2013-01-27T09:14:16Z</dcterms:created>
  <dcterms:modified xsi:type="dcterms:W3CDTF">2026-10-27T01:25:23Z</dcterms:modified>
  <cp:category/>
</cp:coreProperties>
</file>